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9c4b0e8599544f1" /><Relationship Type="http://schemas.openxmlformats.org/officeDocument/2006/relationships/extended-properties" Target="/docProps/app.xml" Id="R3d5690c5203b48e3" /><Relationship Type="http://schemas.openxmlformats.org/officeDocument/2006/relationships/officeDocument" Target="/ppt/presentation.xml" Id="Rf31acfa95d1044f0" /></Relationships>
</file>

<file path=ppt/presentation.xml><?xml version="1.0" encoding="utf-8"?>
<p:presentation xmlns:p="http://schemas.openxmlformats.org/presentationml/2006/main">
  <p:sldMasterIdLst>
    <p:sldMasterId xmlns:r="http://schemas.openxmlformats.org/officeDocument/2006/relationships" id="2147483648" r:id="Rb41f3d28f0c34adf"/>
  </p:sldMasterIdLst>
  <p:notesMasterIdLst>
    <p:notesMasterId xmlns:r="http://schemas.openxmlformats.org/officeDocument/2006/relationships" r:id="R7ccf6a1424f54fd0"/>
  </p:notesMasterIdLst>
  <p:sldIdLst>
    <p:sldId xmlns:r="http://schemas.openxmlformats.org/officeDocument/2006/relationships" id="256" r:id="Rd762fb85f4a0449b"/>
    <p:sldId xmlns:r="http://schemas.openxmlformats.org/officeDocument/2006/relationships" id="257" r:id="Ra87856d9cb40471e"/>
    <p:sldId xmlns:r="http://schemas.openxmlformats.org/officeDocument/2006/relationships" id="258" r:id="R9e2e64c1bab2487e"/>
    <p:sldId xmlns:r="http://schemas.openxmlformats.org/officeDocument/2006/relationships" id="259" r:id="R8e66feabe5144eea"/>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9d2288fdd0440c6" /><Relationship Type="http://schemas.openxmlformats.org/officeDocument/2006/relationships/slideMaster" Target="/ppt/slideMasters/slideMaster1.xml" Id="Rb41f3d28f0c34adf" /><Relationship Type="http://schemas.openxmlformats.org/officeDocument/2006/relationships/notesMaster" Target="/ppt/notesMasters/notesMaster1.xml" Id="R7ccf6a1424f54fd0" /><Relationship Type="http://schemas.openxmlformats.org/officeDocument/2006/relationships/presProps" Target="/ppt/presProps.xml" Id="Re0d9eeb49d6a48dd" /><Relationship Type="http://schemas.openxmlformats.org/officeDocument/2006/relationships/tableStyles" Target="/ppt/tableStyles.xml" Id="R440499846f4848c4" /><Relationship Type="http://schemas.openxmlformats.org/officeDocument/2006/relationships/slide" Target="/ppt/slides/slide1.xml" Id="Rd762fb85f4a0449b" /><Relationship Type="http://schemas.openxmlformats.org/officeDocument/2006/relationships/slide" Target="/ppt/slides/slide2.xml" Id="Ra87856d9cb40471e" /><Relationship Type="http://schemas.openxmlformats.org/officeDocument/2006/relationships/slide" Target="/ppt/slides/slide3.xml" Id="R9e2e64c1bab2487e" /><Relationship Type="http://schemas.openxmlformats.org/officeDocument/2006/relationships/slide" Target="/ppt/slides/slide4.xml" Id="R8e66feabe5144ee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291e39f1a95460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fafe21ed98240fd" /><Relationship Type="http://schemas.openxmlformats.org/officeDocument/2006/relationships/notesMaster" Target="/ppt/notesMasters/notesMaster1.xml" Id="R7b35a44c7d3c4521" /></Relationships>
</file>

<file path=ppt/notesSlides/_rels/notesSlide2.xml.rels>&#65279;<?xml version="1.0" encoding="utf-8"?><Relationships xmlns="http://schemas.openxmlformats.org/package/2006/relationships"><Relationship Type="http://schemas.openxmlformats.org/officeDocument/2006/relationships/slide" Target="/ppt/slides/slide2.xml" Id="R7243befbe28a4199" /><Relationship Type="http://schemas.openxmlformats.org/officeDocument/2006/relationships/notesMaster" Target="/ppt/notesMasters/notesMaster1.xml" Id="Rd0bb5562c9b84137" /></Relationships>
</file>

<file path=ppt/notesSlides/_rels/notesSlide3.xml.rels>&#65279;<?xml version="1.0" encoding="utf-8"?><Relationships xmlns="http://schemas.openxmlformats.org/package/2006/relationships"><Relationship Type="http://schemas.openxmlformats.org/officeDocument/2006/relationships/slide" Target="/ppt/slides/slide3.xml" Id="Rb7122030363e4b9a" /><Relationship Type="http://schemas.openxmlformats.org/officeDocument/2006/relationships/notesMaster" Target="/ppt/notesMasters/notesMaster1.xml" Id="R426c3fdcd4a64fd7" /></Relationships>
</file>

<file path=ppt/notesSlides/_rels/notesSlide4.xml.rels>&#65279;<?xml version="1.0" encoding="utf-8"?><Relationships xmlns="http://schemas.openxmlformats.org/package/2006/relationships"><Relationship Type="http://schemas.openxmlformats.org/officeDocument/2006/relationships/slide" Target="/ppt/slides/slide4.xml" Id="R468d6c1936e746b5" /><Relationship Type="http://schemas.openxmlformats.org/officeDocument/2006/relationships/notesMaster" Target="/ppt/notesMasters/notesMaster1.xml" Id="Refcebd5901804bb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production path uses EvidenceGateway over the vendored EvidenceTools package. RydeOrchestrator captures one versioned snapshot, invokes bounded Advocate rounds and Judge, and applies validation. The static HTML report and local workbench read actual run records. Provider adapters share contracts. Offline providers are the default; live Vertex/Gemini is explicit. The ADP adapter exists but no deployed Tencent ADP service has been verified. ExecutionSession owns budgets, event records and private stage checkpoints. This is a prototype architecture, not a cloud deployment diagram.</a:t>
            </a:r>
          </a:p>
          <a:p xmlns:a="http://schemas.openxmlformats.org/drawingml/2006/main">
            <a:r>
              <a:t/>
            </a:r>
          </a:p>
          <a:p xmlns:a="http://schemas.openxmlformats.org/drawingml/2006/main">
            <a:r>
              <a:t>Implementation sources (team main, 16 October 2026):</a:t>
            </a:r>
          </a:p>
          <a:p xmlns:a="http://schemas.openxmlformats.org/drawingml/2006/main">
            <a:r>
              <a:t>https://github.com/Maple-0102/ryderesolve/blob/fb374f1/README.md</a:t>
            </a:r>
          </a:p>
          <a:p xmlns:a="http://schemas.openxmlformats.org/drawingml/2006/main">
            <a:r>
              <a:t>https://github.com/Maple-0102/ryderesolve/blob/fb374f1/ryde_resolve/evidence.py</a:t>
            </a:r>
          </a:p>
          <a:p xmlns:a="http://schemas.openxmlformats.org/drawingml/2006/main">
            <a:r>
              <a:t>https://github.com/Maple-0102/ryderesolve/blob/fb374f1/ryde_resolve/orchestrator.py</a:t>
            </a:r>
          </a:p>
          <a:p xmlns:a="http://schemas.openxmlformats.org/drawingml/2006/main">
            <a:r>
              <a:t>https://github.com/Maple-0102/ryderesolve/blob/fb374f1/ryde_resolve/execution.py</a:t>
            </a:r>
          </a:p>
          <a:p xmlns:a="http://schemas.openxmlformats.org/drawingml/2006/main">
            <a:r>
              <a:t>https://github.com/Maple-0102/ryderesolve/blob/fb374f1/ryde_resolve/ui.py</a:t>
            </a:r>
          </a:p>
          <a:p xmlns:a="http://schemas.openxmlformats.org/drawingml/2006/main">
            <a:r>
              <a:t>https://github.com/Maple-0102/ryderesolve/blob/fb374f1/ryde_resolve/workbench.py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Normal live execution makes four Advocate calls (two openings and two responses) and one Judge call. An optional inference reviewer adds one call only after a program-valid definitive proposal. The defaults are sequential execution, issue guidance disabled and reviewer disabled. With parallel_advocates enabled, each turn has an isolated adapter/client; both openings validate before responses, and both responses validate before Judge. Each response receives the opponent opening, never the opponent response. Same-source policy issue guidance may be supplied symmetrically. Safety gates can skip model providers entirely. Judge repairs are bounded and cannot change the business decision or amount. An invalid result or transport failure is distinct from a policy referral. DISP-002 retains the unresolved eight-minute clock/source precedence; DISP-001 exceeds the two-kilometre mandatory human threshold.</a:t>
            </a:r>
          </a:p>
          <a:p xmlns:a="http://schemas.openxmlformats.org/drawingml/2006/main">
            <a:r>
              <a:t/>
            </a:r>
          </a:p>
          <a:p xmlns:a="http://schemas.openxmlformats.org/drawingml/2006/main">
            <a:r>
              <a:t>Implementation sources (team main, 16 October 2026):</a:t>
            </a:r>
          </a:p>
          <a:p xmlns:a="http://schemas.openxmlformats.org/drawingml/2006/main">
            <a:r>
              <a:t>https://github.com/Maple-0102/ryderesolve/blob/fb374f1/ryde_resolve/orchestrator.py</a:t>
            </a:r>
          </a:p>
          <a:p xmlns:a="http://schemas.openxmlformats.org/drawingml/2006/main">
            <a:r>
              <a:t>https://github.com/Maple-0102/ryderesolve/blob/fb374f1/ryde_resolve/contracts.py</a:t>
            </a:r>
          </a:p>
          <a:p xmlns:a="http://schemas.openxmlformats.org/drawingml/2006/main">
            <a:r>
              <a:t>https://github.com/Maple-0102/ryderesolve/blob/fb374f1/ryde_resolve/issue_guidance.py</a:t>
            </a:r>
          </a:p>
          <a:p xmlns:a="http://schemas.openxmlformats.org/drawingml/2006/main">
            <a:r>
              <a:t>https://github.com/Maple-0102/ryderesolve/blob/fb374f1/ryde_resolve/reviewer.py</a:t>
            </a:r>
          </a:p>
          <a:p xmlns:a="http://schemas.openxmlformats.org/drawingml/2006/main">
            <a:r>
              <a:t>https://github.com/Maple-0102/ryderesolve/blob/fb374f1/docs/ORCHESTRATION-2026-10-16.md</a:t>
            </a:r>
          </a:p>
          <a:p xmlns:a="http://schemas.openxmlformats.org/drawingml/2006/main">
            <a:r>
              <a:t>https://github.com/Maple-0102/ryderesolve/blob/fb374f1/docs/WORKFLOW-FOLLOWUPS-2026-10-16.md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manifest preserves the four original attachments and their hashes. DISP-001 has an explicit projection removing recommended outcomes and editorial analysis; retained event values and array indices are unchanged. DISP-002 and DISP-003 preserve the supplied JSON. The Evidence Pack contains facts and policy, while raw, policy_documents, source_index and audit travel in the snapshot. snapshot_id includes policy binding, so a policy change requires downstream regeneration. get_evidence and get_policy accept expected_snapshot_id for version checks. The optional HTTP interface exposes read-only tools; this is not a deployed MCP server. The integrated pipeline uses the Python gateway. Raw source text is evidence data, never instructions that can change permissions. Five free minutes start from scheduled pickup in Policy v2.1; the embedded eight-minute no-show threshold remains unresolved and is not silently reconciled.</a:t>
            </a:r>
          </a:p>
          <a:p xmlns:a="http://schemas.openxmlformats.org/drawingml/2006/main">
            <a:r>
              <a:t/>
            </a:r>
          </a:p>
          <a:p xmlns:a="http://schemas.openxmlformats.org/drawingml/2006/main">
            <a:r>
              <a:t>Implementation sources (team main, 16 October 2026):</a:t>
            </a:r>
          </a:p>
          <a:p xmlns:a="http://schemas.openxmlformats.org/drawingml/2006/main">
            <a:r>
              <a:t>https://github.com/Maple-0102/ryderesolve/blob/fb374f1/docs/EVIDENCE-INTEGRATION.md</a:t>
            </a:r>
          </a:p>
          <a:p xmlns:a="http://schemas.openxmlformats.org/drawingml/2006/main">
            <a:r>
              <a:t>https://github.com/Maple-0102/ryderesolve/blob/fb374f1/vendor/ryderesolve-evidence-tools/ryderesolve_evidence/tools.py</a:t>
            </a:r>
          </a:p>
          <a:p xmlns:a="http://schemas.openxmlformats.org/drawingml/2006/main">
            <a:r>
              <a:t>https://github.com/Maple-0102/ryderesolve/blob/fb374f1/vendor/ryderesolve-evidence-tools/sources/official/2026-10-15/manifest.json</a:t>
            </a:r>
          </a:p>
          <a:p xmlns:a="http://schemas.openxmlformats.org/drawingml/2006/main">
            <a:r>
              <a:t>https://github.com/Maple-0102/ryderesolve/blob/fb374f1/ryde_resolve/evidence.py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workbench binds to localhost and checks Host, Origin and a startup token. It is a local demonstration, not an authenticated multi-user service. In live mode, each paid start/rerun also requires explicit UI confirmation. Viewing a report, previewing a supplement and recording a human outcome do not call a model. The workbench permits one explicit supplement round for an eligible referred case, preserves the original report and pinned official policy, and regenerates all arguments against the child snapshot. Source provenance and reviewer identity remain self-declared. Human outcomes are append-only local records and never execute payments. The CLI supports compatible checkpoint resume; the workbench has no resume control. Checkpoints detect accidental corruption, not malicious forgery or exactly-once external execution. Runtime failures have their own status, separate from policy/evidence referrals. Default limits are seven provider calls, 900 active seconds and 300,000 recorded tokens, enforced between calls; they cannot cancel an in-flight provider request or infer unknown billing.</a:t>
            </a:r>
          </a:p>
          <a:p xmlns:a="http://schemas.openxmlformats.org/drawingml/2006/main">
            <a:r>
              <a:t/>
            </a:r>
          </a:p>
          <a:p xmlns:a="http://schemas.openxmlformats.org/drawingml/2006/main">
            <a:r>
              <a:t>Implementation sources (team main, 16 October 2026):</a:t>
            </a:r>
          </a:p>
          <a:p xmlns:a="http://schemas.openxmlformats.org/drawingml/2006/main">
            <a:r>
              <a:t>https://github.com/Maple-0102/ryderesolve/blob/fb374f1/ryde_resolve/workbench.py</a:t>
            </a:r>
          </a:p>
          <a:p xmlns:a="http://schemas.openxmlformats.org/drawingml/2006/main">
            <a:r>
              <a:t>https://github.com/Maple-0102/ryderesolve/blob/fb374f1/ryde_resolve/case_workspace.py</a:t>
            </a:r>
          </a:p>
          <a:p xmlns:a="http://schemas.openxmlformats.org/drawingml/2006/main">
            <a:r>
              <a:t>https://github.com/Maple-0102/ryderesolve/blob/fb374f1/ryde_resolve/execution.py</a:t>
            </a:r>
          </a:p>
          <a:p xmlns:a="http://schemas.openxmlformats.org/drawingml/2006/main">
            <a:r>
              <a:t>https://github.com/Maple-0102/ryderesolve/blob/fb374f1/ryde_resolve/execution_status.py</a:t>
            </a:r>
          </a:p>
          <a:p xmlns:a="http://schemas.openxmlformats.org/drawingml/2006/main">
            <a:r>
              <a:t>https://github.com/Maple-0102/ryderesolve/blob/fb374f1/docs/WORKFLOW-FOLLOWUPS-2026-10-16.md</a:t>
            </a:r>
          </a:p>
          <a:p xmlns:a="http://schemas.openxmlformats.org/drawingml/2006/main">
            <a:r>
              <a:t>https://github.com/Maple-0102/ryderesolve/blob/fb374f1/docs/ORCHESTRATION-2026-10-16.md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b2bf93e3b254da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b12eaaeff9b42e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83da42a1fb7468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ba88d0babca4e8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6f678d617954db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651e905e485420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030AFD8-6DDD-4740-B260-DB7A80EC1AAC}"/>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82CF1E2-A9EA-4121-A7E5-377547CB7B28}"/>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CA4115A-EA6A-49B3-864E-FE17DE34DEE7}"/>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B0F2B85-F854-43BF-AFE4-BC7CAE54CF32}"/>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18F0EBE-B9C1-4EA3-B04E-5F95B8AA5563}"/>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6ABA315-2BDF-459F-9459-50C798FA707A}"/>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3FE8CE0-8600-46D3-AFC6-E6E66A755FCA}"/>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8A9AF9A-B3E0-46D7-A8E7-D47F27BF7C52}"/>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C4CC4D4-3F37-437A-AA47-91594B9433A9}"/>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17B7F2A-1534-4E80-A943-92AF87F9524B}"/>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0e5d826a1cb4784" /><Relationship Type="http://schemas.openxmlformats.org/officeDocument/2006/relationships/slideLayout" Target="/ppt/slideLayouts/slideLayout1.xml" Id="R7e9769891ba54b52" /><Relationship Type="http://schemas.openxmlformats.org/officeDocument/2006/relationships/slideLayout" Target="/ppt/slideLayouts/slideLayout2.xml" Id="R777b5f7c464a4398" /><Relationship Type="http://schemas.openxmlformats.org/officeDocument/2006/relationships/slideLayout" Target="/ppt/slideLayouts/slideLayout3.xml" Id="R0c78b0d3adb5467b" /><Relationship Type="http://schemas.openxmlformats.org/officeDocument/2006/relationships/slideLayout" Target="/ppt/slideLayouts/slideLayout4.xml" Id="Rba222db3dfcd4871" /><Relationship Type="http://schemas.openxmlformats.org/officeDocument/2006/relationships/slideLayout" Target="/ppt/slideLayouts/slideLayout5.xml" Id="R163e517d8c26446f" /><Relationship Type="http://schemas.openxmlformats.org/officeDocument/2006/relationships/slideLayout" Target="/ppt/slideLayouts/slideLayout6.xml" Id="R6afa0d4f05e94af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e9769891ba54b52"/>
    <p:sldLayoutId xmlns:r="http://schemas.openxmlformats.org/officeDocument/2006/relationships" id="2147483650" r:id="R777b5f7c464a4398"/>
    <p:sldLayoutId xmlns:r="http://schemas.openxmlformats.org/officeDocument/2006/relationships" id="2147483651" r:id="R0c78b0d3adb5467b"/>
    <p:sldLayoutId xmlns:r="http://schemas.openxmlformats.org/officeDocument/2006/relationships" id="2147483652" r:id="Rba222db3dfcd4871"/>
    <p:sldLayoutId xmlns:r="http://schemas.openxmlformats.org/officeDocument/2006/relationships" id="2147483653" r:id="R163e517d8c26446f"/>
    <p:sldLayoutId xmlns:r="http://schemas.openxmlformats.org/officeDocument/2006/relationships" id="2147483654" r:id="R6afa0d4f05e94af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55e1b53af554621" /><Relationship Type="http://schemas.openxmlformats.org/officeDocument/2006/relationships/notesSlide" Target="/ppt/notesSlides/notesSlide1.xml" Id="Rd1f5306d11d04e6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3ad0e0a0fde45a5" /><Relationship Type="http://schemas.openxmlformats.org/officeDocument/2006/relationships/notesSlide" Target="/ppt/notesSlides/notesSlide2.xml" Id="R116b43baf27c41d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91e4f0c8afc449d" /><Relationship Type="http://schemas.openxmlformats.org/officeDocument/2006/relationships/notesSlide" Target="/ppt/notesSlides/notesSlide3.xml" Id="Rf260c4db27344f7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33868cafbee4623" /><Relationship Type="http://schemas.openxmlformats.org/officeDocument/2006/relationships/notesSlide" Target="/ppt/notesSlides/notesSlide4.xml" Id="R6698c1a23ddb4384" /></Relationships>
</file>

<file path=ppt/slides/slide1.xml><?xml version="1.0" encoding="utf-8"?>
<p:sld xmlns:p="http://schemas.openxmlformats.org/presentationml/2006/main">
  <p:cSld>
    <p:bg>
      <p:bgPr>
        <a:solidFill xmlns:a="http://schemas.openxmlformats.org/drawingml/2006/main">
          <a:srgbClr val="071D29"/>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2984540F-983E-4D8A-883E-985A6FF67A2E}"/>
              </a:ext>
            </a:extLst>
          </p:cNvPr>
          <p:cNvCxnSpPr>
            <a:stCxn xmlns:a="http://schemas.openxmlformats.org/drawingml/2006/main" id="5" idx="2"/>
            <a:endCxn xmlns:a="http://schemas.openxmlformats.org/drawingml/2006/main" id="13" idx="0"/>
          </p:cNvCxnSpPr>
          <p:nvPr/>
        </p:nvCxnSpPr>
        <p:spPr>
          <a:xfrm xmlns:a="http://schemas.openxmlformats.org/drawingml/2006/main">
            <a:off x="7620000" y="4667250"/>
            <a:ext cx="4619625" cy="1047750"/>
          </a:xfrm>
          <a:prstGeom xmlns:a="http://schemas.openxmlformats.org/drawingml/2006/main" prst="bentConnector4">
            <a:avLst>
              <a:gd name="adj1" fmla="val 0"/>
              <a:gd name="adj2" fmla="val 50000"/>
            </a:avLst>
          </a:prstGeom>
          <a:ln xmlns:a="http://schemas.openxmlformats.org/drawingml/2006/main" w="28575">
            <a:solidFill>
              <a:srgbClr val="72E3CF"/>
            </a:solidFill>
            <a:prstDash val="dash"/>
            <a:headEnd type="triangle" w="med" len="med"/>
            <a:tailEnd type="triangle" w="med" len="med"/>
          </a:ln>
        </p:spPr>
      </p:cxnSp>
      <p:cxnSp>
        <p:nvCxnSpPr>
          <p:cNvPr id="14" name="">
            <a:extLst xmlns:a="http://schemas.openxmlformats.org/drawingml/2006/main">
              <a:ext uri="{FF2B5EF4-FFF2-40B4-BE49-F238E27FC236}">
                <a16:creationId xmlns:a16="http://schemas.microsoft.com/office/drawing/2014/main" id="{E38D5FDA-BC89-4F64-9F86-398C6C09CF4B}"/>
              </a:ext>
            </a:extLst>
          </p:cNvPr>
          <p:cNvCxnSpPr>
            <a:stCxn xmlns:a="http://schemas.openxmlformats.org/drawingml/2006/main" id="5" idx="2"/>
            <a:endCxn xmlns:a="http://schemas.openxmlformats.org/drawingml/2006/main" id="12" idx="0"/>
          </p:cNvCxnSpPr>
          <p:nvPr/>
        </p:nvCxnSpPr>
        <p:spPr>
          <a:xfrm xmlns:a="http://schemas.openxmlformats.org/drawingml/2006/main" flipH="1">
            <a:off x="6096000" y="4667250"/>
            <a:ext cx="1524000" cy="1047750"/>
          </a:xfrm>
          <a:prstGeom xmlns:a="http://schemas.openxmlformats.org/drawingml/2006/main" prst="bentConnector4">
            <a:avLst>
              <a:gd name="adj1" fmla="val 0"/>
              <a:gd name="adj2" fmla="val 50000"/>
            </a:avLst>
          </a:prstGeom>
          <a:ln xmlns:a="http://schemas.openxmlformats.org/drawingml/2006/main" w="28575">
            <a:solidFill>
              <a:srgbClr val="72E3CF"/>
            </a:solidFill>
            <a:prstDash val="solid"/>
            <a:tailEnd type="triangle" w="med" len="med"/>
          </a:ln>
        </p:spPr>
      </p:cxnSp>
      <p:cxnSp>
        <p:nvCxnSpPr>
          <p:cNvPr id="11" name="">
            <a:extLst xmlns:a="http://schemas.openxmlformats.org/drawingml/2006/main">
              <a:ext uri="{FF2B5EF4-FFF2-40B4-BE49-F238E27FC236}">
                <a16:creationId xmlns:a16="http://schemas.microsoft.com/office/drawing/2014/main" id="{A970C19C-04A4-43A2-AF79-9BEF0B2F69EF}"/>
              </a:ext>
            </a:extLst>
          </p:cNvPr>
          <p:cNvCxnSpPr>
            <a:stCxn xmlns:a="http://schemas.openxmlformats.org/drawingml/2006/main" id="6" idx="3"/>
            <a:endCxn xmlns:a="http://schemas.openxmlformats.org/drawingml/2006/main" id="7" idx="1"/>
          </p:cNvCxnSpPr>
          <p:nvPr/>
        </p:nvCxnSpPr>
        <p:spPr>
          <a:xfrm xmlns:a="http://schemas.openxmlformats.org/drawingml/2006/main">
            <a:off x="11763375" y="3619500"/>
            <a:ext cx="428625" cy="0"/>
          </a:xfrm>
          <a:prstGeom xmlns:a="http://schemas.openxmlformats.org/drawingml/2006/main" prst="straightConnector1">
            <a:avLst/>
          </a:prstGeom>
          <a:ln xmlns:a="http://schemas.openxmlformats.org/drawingml/2006/main" w="28575">
            <a:solidFill>
              <a:srgbClr val="72E3CF"/>
            </a:solidFill>
            <a:prstDash val="solid"/>
            <a:tailEnd type="triangle" w="med" len="med"/>
          </a:ln>
        </p:spPr>
      </p:cxnSp>
      <p:cxnSp>
        <p:nvCxnSpPr>
          <p:cNvPr id="10" name="">
            <a:extLst xmlns:a="http://schemas.openxmlformats.org/drawingml/2006/main">
              <a:ext uri="{FF2B5EF4-FFF2-40B4-BE49-F238E27FC236}">
                <a16:creationId xmlns:a16="http://schemas.microsoft.com/office/drawing/2014/main" id="{797CB000-A7EF-4A87-A1B4-8DBF1C8ADEAE}"/>
              </a:ext>
            </a:extLst>
          </p:cNvPr>
          <p:cNvCxnSpPr>
            <a:stCxn xmlns:a="http://schemas.openxmlformats.org/drawingml/2006/main" id="5" idx="3"/>
            <a:endCxn xmlns:a="http://schemas.openxmlformats.org/drawingml/2006/main" id="6" idx="1"/>
          </p:cNvCxnSpPr>
          <p:nvPr/>
        </p:nvCxnSpPr>
        <p:spPr>
          <a:xfrm xmlns:a="http://schemas.openxmlformats.org/drawingml/2006/main">
            <a:off x="8858250" y="3619500"/>
            <a:ext cx="428625" cy="0"/>
          </a:xfrm>
          <a:prstGeom xmlns:a="http://schemas.openxmlformats.org/drawingml/2006/main" prst="straightConnector1">
            <a:avLst/>
          </a:prstGeom>
          <a:ln xmlns:a="http://schemas.openxmlformats.org/drawingml/2006/main" w="28575">
            <a:solidFill>
              <a:srgbClr val="72E3CF"/>
            </a:solidFill>
            <a:prstDash val="solid"/>
            <a:tailEnd type="triangle" w="med" len="med"/>
          </a:ln>
        </p:spPr>
      </p:cxnSp>
      <p:cxnSp>
        <p:nvCxnSpPr>
          <p:cNvPr id="9" name="">
            <a:extLst xmlns:a="http://schemas.openxmlformats.org/drawingml/2006/main">
              <a:ext uri="{FF2B5EF4-FFF2-40B4-BE49-F238E27FC236}">
                <a16:creationId xmlns:a16="http://schemas.microsoft.com/office/drawing/2014/main" id="{E38F34FE-A874-4F38-8DAD-F415D08F06E5}"/>
              </a:ext>
            </a:extLst>
          </p:cNvPr>
          <p:cNvCxnSpPr>
            <a:stCxn xmlns:a="http://schemas.openxmlformats.org/drawingml/2006/main" id="4" idx="3"/>
            <a:endCxn xmlns:a="http://schemas.openxmlformats.org/drawingml/2006/main" id="5" idx="1"/>
          </p:cNvCxnSpPr>
          <p:nvPr/>
        </p:nvCxnSpPr>
        <p:spPr>
          <a:xfrm xmlns:a="http://schemas.openxmlformats.org/drawingml/2006/main">
            <a:off x="5953125" y="3619500"/>
            <a:ext cx="428625" cy="0"/>
          </a:xfrm>
          <a:prstGeom xmlns:a="http://schemas.openxmlformats.org/drawingml/2006/main" prst="straightConnector1">
            <a:avLst/>
          </a:prstGeom>
          <a:ln xmlns:a="http://schemas.openxmlformats.org/drawingml/2006/main" w="28575">
            <a:solidFill>
              <a:srgbClr val="72E3CF"/>
            </a:solidFill>
            <a:prstDash val="solid"/>
            <a:tailEnd type="triangle" w="med" len="med"/>
          </a:ln>
        </p:spPr>
      </p:cxnSp>
      <p:cxnSp>
        <p:nvCxnSpPr>
          <p:cNvPr id="8" name="">
            <a:extLst xmlns:a="http://schemas.openxmlformats.org/drawingml/2006/main">
              <a:ext uri="{FF2B5EF4-FFF2-40B4-BE49-F238E27FC236}">
                <a16:creationId xmlns:a16="http://schemas.microsoft.com/office/drawing/2014/main" id="{A0BB3CEC-C56B-4D5D-B1FA-94A217A40B0F}"/>
              </a:ext>
            </a:extLst>
          </p:cNvPr>
          <p:cNvCxnSpPr>
            <a:stCxn xmlns:a="http://schemas.openxmlformats.org/drawingml/2006/main" id="3" idx="3"/>
            <a:endCxn xmlns:a="http://schemas.openxmlformats.org/drawingml/2006/main" id="4" idx="1"/>
          </p:cNvCxnSpPr>
          <p:nvPr/>
        </p:nvCxnSpPr>
        <p:spPr>
          <a:xfrm xmlns:a="http://schemas.openxmlformats.org/drawingml/2006/main">
            <a:off x="3048000" y="3619500"/>
            <a:ext cx="428625" cy="0"/>
          </a:xfrm>
          <a:prstGeom xmlns:a="http://schemas.openxmlformats.org/drawingml/2006/main" prst="straightConnector1">
            <a:avLst/>
          </a:prstGeom>
          <a:ln xmlns:a="http://schemas.openxmlformats.org/drawingml/2006/main" w="28575">
            <a:solidFill>
              <a:srgbClr val="72E3CF"/>
            </a:solidFill>
            <a:prstDash val="solid"/>
            <a:tailEnd type="triangle" w="med" len="med"/>
          </a:ln>
        </p:spPr>
      </p:cxnSp>
      <p:sp>
        <p:nvSpPr>
          <p:cNvPr id="18" name="text-1">
            <a:extLst xmlns:a="http://schemas.openxmlformats.org/drawingml/2006/main">
              <a:ext uri="{FF2B5EF4-FFF2-40B4-BE49-F238E27FC236}">
                <a16:creationId xmlns:a16="http://schemas.microsoft.com/office/drawing/2014/main" id="{575246CF-B9B1-4D3B-A542-33E45FA35D00}"/>
              </a:ext>
            </a:extLst>
          </p:cNvPr>
          <p:cNvSpPr>
            <a:spLocks xmlns:a="http://schemas.openxmlformats.org/drawingml/2006/main" noGrp="1"/>
          </p:cNvSpPr>
          <p:nvPr/>
        </p:nvSpPr>
        <p:spPr>
          <a:xfrm xmlns:a="http://schemas.openxmlformats.org/drawingml/2006/main">
            <a:off x="571500" y="45720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00" b="1">
                <a:solidFill>
                  <a:srgbClr val="F2F8FA"/>
                </a:solidFill>
                <a:latin typeface="Segoe UI"/>
                <a:ea typeface="Segoe UI"/>
                <a:cs typeface="Segoe UI"/>
              </a:defRPr>
            </a:defPPr>
          </a:lstStyle>
          <a:p xmlns:a="http://schemas.openxmlformats.org/drawingml/2006/main">
            <a:pPr>
              <a:defRPr sz="4200" b="1">
                <a:solidFill>
                  <a:srgbClr val="F2F8FA"/>
                </a:solidFill>
                <a:latin typeface="Segoe UI"/>
                <a:ea typeface="Segoe UI"/>
                <a:cs typeface="Segoe UI"/>
              </a:defRPr>
            </a:pPr>
            <a:r>
              <a:rPr sz="4200" b="1">
                <a:solidFill>
                  <a:srgbClr val="F2F8FA"/>
                </a:solidFill>
                <a:latin typeface="Segoe UI"/>
                <a:ea typeface="Segoe UI"/>
                <a:cs typeface="Segoe UI"/>
              </a:rPr>
              <a:t>RydeResolve system architecture</a:t>
            </a:r>
          </a:p>
        </p:txBody>
      </p:sp>
      <p:sp>
        <p:nvSpPr>
          <p:cNvPr id="2" name="text-2">
            <a:extLst xmlns:a="http://schemas.openxmlformats.org/drawingml/2006/main">
              <a:ext uri="{FF2B5EF4-FFF2-40B4-BE49-F238E27FC236}">
                <a16:creationId xmlns:a16="http://schemas.microsoft.com/office/drawing/2014/main" id="{0C53C3A4-228E-40B1-A4B4-42A92F66FF84}"/>
              </a:ext>
            </a:extLst>
          </p:cNvPr>
          <p:cNvSpPr>
            <a:spLocks xmlns:a="http://schemas.openxmlformats.org/drawingml/2006/main" noGrp="1"/>
          </p:cNvSpPr>
          <p:nvPr/>
        </p:nvSpPr>
        <p:spPr>
          <a:xfrm xmlns:a="http://schemas.openxmlformats.org/drawingml/2006/main">
            <a:off x="600075" y="1323975"/>
            <a:ext cx="1400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BED1D8"/>
                </a:solidFill>
                <a:latin typeface="Segoe UI"/>
                <a:ea typeface="Segoe UI"/>
                <a:cs typeface="Segoe UI"/>
              </a:defRPr>
            </a:defPPr>
          </a:lstStyle>
          <a:p xmlns:a="http://schemas.openxmlformats.org/drawingml/2006/main">
            <a:pPr>
              <a:defRPr sz="2100" b="0">
                <a:solidFill>
                  <a:srgbClr val="BED1D8"/>
                </a:solidFill>
                <a:latin typeface="Segoe UI"/>
                <a:ea typeface="Segoe UI"/>
                <a:cs typeface="Segoe UI"/>
              </a:defRPr>
            </a:pPr>
            <a:r>
              <a:rPr sz="2100" b="0">
                <a:solidFill>
                  <a:srgbClr val="BED1D8"/>
                </a:solidFill>
                <a:latin typeface="Segoe UI"/>
                <a:ea typeface="Segoe UI"/>
                <a:cs typeface="Segoe UI"/>
              </a:rPr>
              <a:t>Ride dispute records become an inspectable recommendation or a human handoff</a:t>
            </a:r>
          </a:p>
        </p:txBody>
      </p:sp>
      <p:sp>
        <p:nvSpPr>
          <p:cNvPr id="3" name="Official inputs">
            <a:extLst xmlns:a="http://schemas.openxmlformats.org/drawingml/2006/main">
              <a:ext uri="{FF2B5EF4-FFF2-40B4-BE49-F238E27FC236}">
                <a16:creationId xmlns:a16="http://schemas.microsoft.com/office/drawing/2014/main" id="{D226681B-0671-452F-9EF0-839D97ABAEEA}"/>
              </a:ext>
            </a:extLst>
          </p:cNvPr>
          <p:cNvSpPr>
            <a:spLocks xmlns:a="http://schemas.openxmlformats.org/drawingml/2006/main" noGrp="1"/>
          </p:cNvSpPr>
          <p:nvPr/>
        </p:nvSpPr>
        <p:spPr>
          <a:xfrm xmlns:a="http://schemas.openxmlformats.org/drawingml/2006/main">
            <a:off x="571500" y="2571750"/>
            <a:ext cx="2476500" cy="2095500"/>
          </a:xfrm>
          <a:prstGeom xmlns:a="http://schemas.openxmlformats.org/drawingml/2006/main" prst="rect">
            <a:avLst/>
          </a:prstGeom>
          <a:solidFill xmlns:a="http://schemas.openxmlformats.org/drawingml/2006/main">
            <a:srgbClr val="0F303E"/>
          </a:solidFill>
          <a:ln xmlns:a="http://schemas.openxmlformats.org/drawingml/2006/main" w="19050">
            <a:solidFill>
              <a:srgbClr val="72E3CF"/>
            </a:solidFill>
            <a:prstDash val="solid"/>
          </a:ln>
        </p:spPr>
        <p:txBody>
          <a:bodyPr xmlns:a="http://schemas.openxmlformats.org/drawingml/2006/main" wrap="square" lIns="190500" tIns="190500" rIns="171450" bIns="171450" anchor="t">
            <a:noAutofit/>
          </a:bodyPr>
          <a:lstStyle xmlns:a="http://schemas.openxmlformats.org/drawingml/2006/main">
            <a:defPPr>
              <a:defRPr sz="1800">
                <a:solidFill>
                  <a:srgbClr val="F2F8FA"/>
                </a:solidFill>
                <a:latin typeface="Segoe UI"/>
                <a:ea typeface="Segoe UI"/>
                <a:cs typeface="Segoe UI"/>
              </a:defRPr>
            </a:defPPr>
          </a:lstStyle>
          <a:p xmlns:a="http://schemas.openxmlformats.org/drawingml/2006/main">
            <a:pPr>
              <a:spcAft>
                <a:spcPts val="600"/>
              </a:spcAft>
              <a:defRPr sz="1800">
                <a:solidFill>
                  <a:srgbClr val="F2F8FA"/>
                </a:solidFill>
                <a:latin typeface="Segoe UI"/>
                <a:ea typeface="Segoe UI"/>
                <a:cs typeface="Segoe UI"/>
              </a:defRPr>
            </a:pPr>
            <a:r>
              <a:rPr sz="2100" b="1">
                <a:solidFill>
                  <a:srgbClr val="72E3CF"/>
                </a:solidFill>
                <a:latin typeface="Segoe UI"/>
                <a:ea typeface="Segoe UI"/>
                <a:cs typeface="Segoe UI"/>
              </a:rPr>
              <a:t>Official inputs</a:t>
            </a:r>
          </a:p>
          <a:p xmlns:a="http://schemas.openxmlformats.org/drawingml/2006/main">
            <a:pPr>
              <a:defRPr sz="1800">
                <a:solidFill>
                  <a:srgbClr val="F2F8FA"/>
                </a:solidFill>
                <a:latin typeface="Segoe UI"/>
                <a:ea typeface="Segoe UI"/>
                <a:cs typeface="Segoe UI"/>
              </a:defRPr>
            </a:pPr>
            <a:r>
              <a:rPr sz="1800">
                <a:solidFill>
                  <a:srgbClr val="F2F8FA"/>
                </a:solidFill>
                <a:latin typeface="Segoe UI"/>
                <a:ea typeface="Segoe UI"/>
                <a:cs typeface="Segoe UI"/>
              </a:rPr>
              <a:t>DISP-001 / 002 / 003</a:t>
            </a:r>
            <a:br>
              <a:rPr sz="1800">
                <a:solidFill>
                  <a:srgbClr val="F2F8FA"/>
                </a:solidFill>
                <a:latin typeface="Segoe UI"/>
                <a:ea typeface="Segoe UI"/>
                <a:cs typeface="Segoe UI"/>
              </a:rPr>
            </a:br>
            <a:r>
              <a:rPr sz="1800">
                <a:solidFill>
                  <a:srgbClr val="F2F8FA"/>
                </a:solidFill>
                <a:latin typeface="Segoe UI"/>
                <a:ea typeface="Segoe UI"/>
                <a:cs typeface="Segoe UI"/>
              </a:rPr>
              <a:t>Trip, GPS, fare, chat</a:t>
            </a:r>
            <a:br>
              <a:rPr sz="1800">
                <a:solidFill>
                  <a:srgbClr val="F2F8FA"/>
                </a:solidFill>
                <a:latin typeface="Segoe UI"/>
                <a:ea typeface="Segoe UI"/>
                <a:cs typeface="Segoe UI"/>
              </a:rPr>
            </a:br>
            <a:r>
              <a:rPr sz="1800">
                <a:solidFill>
                  <a:srgbClr val="F2F8FA"/>
                </a:solidFill>
                <a:latin typeface="Segoe UI"/>
                <a:ea typeface="Segoe UI"/>
                <a:cs typeface="Segoe UI"/>
              </a:rPr>
              <a:t>Ryde Policy v2.1</a:t>
            </a:r>
          </a:p>
        </p:txBody>
      </p:sp>
      <p:sp>
        <p:nvSpPr>
          <p:cNvPr id="4" name="EvidenceTools">
            <a:extLst xmlns:a="http://schemas.openxmlformats.org/drawingml/2006/main">
              <a:ext uri="{FF2B5EF4-FFF2-40B4-BE49-F238E27FC236}">
                <a16:creationId xmlns:a16="http://schemas.microsoft.com/office/drawing/2014/main" id="{6D769FF8-23EF-420F-BCB8-8FDCA7BDE760}"/>
              </a:ext>
            </a:extLst>
          </p:cNvPr>
          <p:cNvSpPr>
            <a:spLocks xmlns:a="http://schemas.openxmlformats.org/drawingml/2006/main" noGrp="1"/>
          </p:cNvSpPr>
          <p:nvPr/>
        </p:nvSpPr>
        <p:spPr>
          <a:xfrm xmlns:a="http://schemas.openxmlformats.org/drawingml/2006/main">
            <a:off x="3476625" y="2571750"/>
            <a:ext cx="2476500" cy="2095500"/>
          </a:xfrm>
          <a:prstGeom xmlns:a="http://schemas.openxmlformats.org/drawingml/2006/main" prst="rect">
            <a:avLst/>
          </a:prstGeom>
          <a:solidFill xmlns:a="http://schemas.openxmlformats.org/drawingml/2006/main">
            <a:srgbClr val="0F303E"/>
          </a:solidFill>
          <a:ln xmlns:a="http://schemas.openxmlformats.org/drawingml/2006/main" w="19050">
            <a:solidFill>
              <a:srgbClr val="72E3CF"/>
            </a:solidFill>
            <a:prstDash val="solid"/>
          </a:ln>
        </p:spPr>
        <p:txBody>
          <a:bodyPr xmlns:a="http://schemas.openxmlformats.org/drawingml/2006/main" wrap="square" lIns="190500" tIns="190500" rIns="171450" bIns="171450" anchor="t">
            <a:noAutofit/>
          </a:bodyPr>
          <a:lstStyle xmlns:a="http://schemas.openxmlformats.org/drawingml/2006/main">
            <a:defPPr>
              <a:defRPr sz="1800">
                <a:solidFill>
                  <a:srgbClr val="F2F8FA"/>
                </a:solidFill>
                <a:latin typeface="Segoe UI"/>
                <a:ea typeface="Segoe UI"/>
                <a:cs typeface="Segoe UI"/>
              </a:defRPr>
            </a:defPPr>
          </a:lstStyle>
          <a:p xmlns:a="http://schemas.openxmlformats.org/drawingml/2006/main">
            <a:pPr>
              <a:spcAft>
                <a:spcPts val="600"/>
              </a:spcAft>
              <a:defRPr sz="1800">
                <a:solidFill>
                  <a:srgbClr val="F2F8FA"/>
                </a:solidFill>
                <a:latin typeface="Segoe UI"/>
                <a:ea typeface="Segoe UI"/>
                <a:cs typeface="Segoe UI"/>
              </a:defRPr>
            </a:pPr>
            <a:r>
              <a:rPr sz="2100" b="1">
                <a:solidFill>
                  <a:srgbClr val="72E3CF"/>
                </a:solidFill>
                <a:latin typeface="Segoe UI"/>
                <a:ea typeface="Segoe UI"/>
                <a:cs typeface="Segoe UI"/>
              </a:rPr>
              <a:t>EvidenceTools</a:t>
            </a:r>
          </a:p>
          <a:p xmlns:a="http://schemas.openxmlformats.org/drawingml/2006/main">
            <a:pPr>
              <a:defRPr sz="1800">
                <a:solidFill>
                  <a:srgbClr val="F2F8FA"/>
                </a:solidFill>
                <a:latin typeface="Segoe UI"/>
                <a:ea typeface="Segoe UI"/>
                <a:cs typeface="Segoe UI"/>
              </a:defRPr>
            </a:pPr>
            <a:r>
              <a:rPr sz="1800">
                <a:solidFill>
                  <a:srgbClr val="F2F8FA"/>
                </a:solidFill>
                <a:latin typeface="Segoe UI"/>
                <a:ea typeface="Segoe UI"/>
                <a:cs typeface="Segoe UI"/>
              </a:rPr>
              <a:t>Normalize + audit</a:t>
            </a:r>
            <a:br>
              <a:rPr sz="1800">
                <a:solidFill>
                  <a:srgbClr val="F2F8FA"/>
                </a:solidFill>
                <a:latin typeface="Segoe UI"/>
                <a:ea typeface="Segoe UI"/>
                <a:cs typeface="Segoe UI"/>
              </a:rPr>
            </a:br>
            <a:r>
              <a:rPr sz="1800">
                <a:solidFill>
                  <a:srgbClr val="F2F8FA"/>
                </a:solidFill>
                <a:latin typeface="Segoe UI"/>
                <a:ea typeface="Segoe UI"/>
                <a:cs typeface="Segoe UI"/>
              </a:rPr>
              <a:t>Source-linked facts</a:t>
            </a:r>
            <a:br>
              <a:rPr sz="1800">
                <a:solidFill>
                  <a:srgbClr val="F2F8FA"/>
                </a:solidFill>
                <a:latin typeface="Segoe UI"/>
                <a:ea typeface="Segoe UI"/>
                <a:cs typeface="Segoe UI"/>
              </a:rPr>
            </a:br>
            <a:r>
              <a:rPr sz="1800">
                <a:solidFill>
                  <a:srgbClr val="F2F8FA"/>
                </a:solidFill>
                <a:latin typeface="Segoe UI"/>
                <a:ea typeface="Segoe UI"/>
                <a:cs typeface="Segoe UI"/>
              </a:rPr>
              <a:t>Versioned snapshot</a:t>
            </a:r>
          </a:p>
        </p:txBody>
      </p:sp>
      <p:sp>
        <p:nvSpPr>
          <p:cNvPr id="5" name="Orchestrator">
            <a:extLst xmlns:a="http://schemas.openxmlformats.org/drawingml/2006/main">
              <a:ext uri="{FF2B5EF4-FFF2-40B4-BE49-F238E27FC236}">
                <a16:creationId xmlns:a16="http://schemas.microsoft.com/office/drawing/2014/main" id="{0C0CB8F5-7BC7-420E-A288-7EB31D3E4914}"/>
              </a:ext>
            </a:extLst>
          </p:cNvPr>
          <p:cNvSpPr>
            <a:spLocks xmlns:a="http://schemas.openxmlformats.org/drawingml/2006/main" noGrp="1"/>
          </p:cNvSpPr>
          <p:nvPr/>
        </p:nvSpPr>
        <p:spPr>
          <a:xfrm xmlns:a="http://schemas.openxmlformats.org/drawingml/2006/main">
            <a:off x="6381750" y="2571750"/>
            <a:ext cx="2476500" cy="2095500"/>
          </a:xfrm>
          <a:prstGeom xmlns:a="http://schemas.openxmlformats.org/drawingml/2006/main" prst="rect">
            <a:avLst/>
          </a:prstGeom>
          <a:solidFill xmlns:a="http://schemas.openxmlformats.org/drawingml/2006/main">
            <a:srgbClr val="0F303E"/>
          </a:solidFill>
          <a:ln xmlns:a="http://schemas.openxmlformats.org/drawingml/2006/main" w="19050">
            <a:solidFill>
              <a:srgbClr val="72E3CF"/>
            </a:solidFill>
            <a:prstDash val="solid"/>
          </a:ln>
        </p:spPr>
        <p:txBody>
          <a:bodyPr xmlns:a="http://schemas.openxmlformats.org/drawingml/2006/main" wrap="square" lIns="190500" tIns="190500" rIns="171450" bIns="171450" anchor="t">
            <a:noAutofit/>
          </a:bodyPr>
          <a:lstStyle xmlns:a="http://schemas.openxmlformats.org/drawingml/2006/main">
            <a:defPPr>
              <a:defRPr sz="1800">
                <a:solidFill>
                  <a:srgbClr val="F2F8FA"/>
                </a:solidFill>
                <a:latin typeface="Segoe UI"/>
                <a:ea typeface="Segoe UI"/>
                <a:cs typeface="Segoe UI"/>
              </a:defRPr>
            </a:defPPr>
          </a:lstStyle>
          <a:p xmlns:a="http://schemas.openxmlformats.org/drawingml/2006/main">
            <a:pPr>
              <a:spcAft>
                <a:spcPts val="600"/>
              </a:spcAft>
              <a:defRPr sz="1800">
                <a:solidFill>
                  <a:srgbClr val="F2F8FA"/>
                </a:solidFill>
                <a:latin typeface="Segoe UI"/>
                <a:ea typeface="Segoe UI"/>
                <a:cs typeface="Segoe UI"/>
              </a:defRPr>
            </a:pPr>
            <a:r>
              <a:rPr sz="2100" b="1">
                <a:solidFill>
                  <a:srgbClr val="72E3CF"/>
                </a:solidFill>
                <a:latin typeface="Segoe UI"/>
                <a:ea typeface="Segoe UI"/>
                <a:cs typeface="Segoe UI"/>
              </a:rPr>
              <a:t>Orchestrator</a:t>
            </a:r>
          </a:p>
          <a:p xmlns:a="http://schemas.openxmlformats.org/drawingml/2006/main">
            <a:pPr>
              <a:defRPr sz="1800">
                <a:solidFill>
                  <a:srgbClr val="F2F8FA"/>
                </a:solidFill>
                <a:latin typeface="Segoe UI"/>
                <a:ea typeface="Segoe UI"/>
                <a:cs typeface="Segoe UI"/>
              </a:defRPr>
            </a:pPr>
            <a:r>
              <a:rPr sz="1800">
                <a:solidFill>
                  <a:srgbClr val="F2F8FA"/>
                </a:solidFill>
                <a:latin typeface="Segoe UI"/>
                <a:ea typeface="Segoe UI"/>
                <a:cs typeface="Segoe UI"/>
              </a:rPr>
              <a:t>Rider + Driver</a:t>
            </a:r>
            <a:br>
              <a:rPr sz="1800">
                <a:solidFill>
                  <a:srgbClr val="F2F8FA"/>
                </a:solidFill>
                <a:latin typeface="Segoe UI"/>
                <a:ea typeface="Segoe UI"/>
                <a:cs typeface="Segoe UI"/>
              </a:rPr>
            </a:br>
            <a:r>
              <a:rPr sz="1800">
                <a:solidFill>
                  <a:srgbClr val="F2F8FA"/>
                </a:solidFill>
                <a:latin typeface="Segoe UI"/>
                <a:ea typeface="Segoe UI"/>
                <a:cs typeface="Segoe UI"/>
              </a:rPr>
              <a:t>One response round</a:t>
            </a:r>
            <a:br>
              <a:rPr sz="1800">
                <a:solidFill>
                  <a:srgbClr val="F2F8FA"/>
                </a:solidFill>
                <a:latin typeface="Segoe UI"/>
                <a:ea typeface="Segoe UI"/>
                <a:cs typeface="Segoe UI"/>
              </a:rPr>
            </a:br>
            <a:r>
              <a:rPr sz="1800">
                <a:solidFill>
                  <a:srgbClr val="F2F8FA"/>
                </a:solidFill>
                <a:latin typeface="Segoe UI"/>
                <a:ea typeface="Segoe UI"/>
                <a:cs typeface="Segoe UI"/>
              </a:rPr>
              <a:t>Judge proposal</a:t>
            </a:r>
          </a:p>
        </p:txBody>
      </p:sp>
      <p:sp>
        <p:nvSpPr>
          <p:cNvPr id="6" name="Output checks">
            <a:extLst xmlns:a="http://schemas.openxmlformats.org/drawingml/2006/main">
              <a:ext uri="{FF2B5EF4-FFF2-40B4-BE49-F238E27FC236}">
                <a16:creationId xmlns:a16="http://schemas.microsoft.com/office/drawing/2014/main" id="{191326D2-1680-4A2A-92B8-C1862A84FC73}"/>
              </a:ext>
            </a:extLst>
          </p:cNvPr>
          <p:cNvSpPr>
            <a:spLocks xmlns:a="http://schemas.openxmlformats.org/drawingml/2006/main" noGrp="1"/>
          </p:cNvSpPr>
          <p:nvPr/>
        </p:nvSpPr>
        <p:spPr>
          <a:xfrm xmlns:a="http://schemas.openxmlformats.org/drawingml/2006/main">
            <a:off x="9286875" y="2571750"/>
            <a:ext cx="2476500" cy="2095500"/>
          </a:xfrm>
          <a:prstGeom xmlns:a="http://schemas.openxmlformats.org/drawingml/2006/main" prst="rect">
            <a:avLst/>
          </a:prstGeom>
          <a:solidFill xmlns:a="http://schemas.openxmlformats.org/drawingml/2006/main">
            <a:srgbClr val="0F303E"/>
          </a:solidFill>
          <a:ln xmlns:a="http://schemas.openxmlformats.org/drawingml/2006/main" w="19050">
            <a:solidFill>
              <a:srgbClr val="72E3CF"/>
            </a:solidFill>
            <a:prstDash val="solid"/>
          </a:ln>
        </p:spPr>
        <p:txBody>
          <a:bodyPr xmlns:a="http://schemas.openxmlformats.org/drawingml/2006/main" wrap="square" lIns="190500" tIns="190500" rIns="171450" bIns="171450" anchor="t">
            <a:noAutofit/>
          </a:bodyPr>
          <a:lstStyle xmlns:a="http://schemas.openxmlformats.org/drawingml/2006/main">
            <a:defPPr>
              <a:defRPr sz="1800">
                <a:solidFill>
                  <a:srgbClr val="F2F8FA"/>
                </a:solidFill>
                <a:latin typeface="Segoe UI"/>
                <a:ea typeface="Segoe UI"/>
                <a:cs typeface="Segoe UI"/>
              </a:defRPr>
            </a:defPPr>
          </a:lstStyle>
          <a:p xmlns:a="http://schemas.openxmlformats.org/drawingml/2006/main">
            <a:pPr>
              <a:spcAft>
                <a:spcPts val="600"/>
              </a:spcAft>
              <a:defRPr sz="1800">
                <a:solidFill>
                  <a:srgbClr val="F2F8FA"/>
                </a:solidFill>
                <a:latin typeface="Segoe UI"/>
                <a:ea typeface="Segoe UI"/>
                <a:cs typeface="Segoe UI"/>
              </a:defRPr>
            </a:pPr>
            <a:r>
              <a:rPr sz="2100" b="1">
                <a:solidFill>
                  <a:srgbClr val="72E3CF"/>
                </a:solidFill>
                <a:latin typeface="Segoe UI"/>
                <a:ea typeface="Segoe UI"/>
                <a:cs typeface="Segoe UI"/>
              </a:rPr>
              <a:t>Output checks</a:t>
            </a:r>
          </a:p>
          <a:p xmlns:a="http://schemas.openxmlformats.org/drawingml/2006/main">
            <a:pPr>
              <a:defRPr sz="1800">
                <a:solidFill>
                  <a:srgbClr val="F2F8FA"/>
                </a:solidFill>
                <a:latin typeface="Segoe UI"/>
                <a:ea typeface="Segoe UI"/>
                <a:cs typeface="Segoe UI"/>
              </a:defRPr>
            </a:pPr>
            <a:r>
              <a:rPr sz="1800">
                <a:solidFill>
                  <a:srgbClr val="F2F8FA"/>
                </a:solidFill>
                <a:latin typeface="Segoe UI"/>
                <a:ea typeface="Segoe UI"/>
                <a:cs typeface="Segoe UI"/>
              </a:rPr>
              <a:t>Schema + references</a:t>
            </a:r>
            <a:br>
              <a:rPr sz="1800">
                <a:solidFill>
                  <a:srgbClr val="F2F8FA"/>
                </a:solidFill>
                <a:latin typeface="Segoe UI"/>
                <a:ea typeface="Segoe UI"/>
                <a:cs typeface="Segoe UI"/>
              </a:rPr>
            </a:br>
            <a:r>
              <a:rPr sz="1800">
                <a:solidFill>
                  <a:srgbClr val="F2F8FA"/>
                </a:solidFill>
                <a:latin typeface="Segoe UI"/>
                <a:ea typeface="Segoe UI"/>
                <a:cs typeface="Segoe UI"/>
              </a:rPr>
              <a:t>Policy conditions</a:t>
            </a:r>
            <a:br>
              <a:rPr sz="1800">
                <a:solidFill>
                  <a:srgbClr val="F2F8FA"/>
                </a:solidFill>
                <a:latin typeface="Segoe UI"/>
                <a:ea typeface="Segoe UI"/>
                <a:cs typeface="Segoe UI"/>
              </a:rPr>
            </a:br>
            <a:r>
              <a:rPr sz="1800">
                <a:solidFill>
                  <a:srgbClr val="F2F8FA"/>
                </a:solidFill>
                <a:latin typeface="Segoe UI"/>
                <a:ea typeface="Segoe UI"/>
                <a:cs typeface="Segoe UI"/>
              </a:rPr>
              <a:t>Human review gates</a:t>
            </a:r>
          </a:p>
        </p:txBody>
      </p:sp>
      <p:sp>
        <p:nvSpPr>
          <p:cNvPr id="7" name="Review interface">
            <a:extLst xmlns:a="http://schemas.openxmlformats.org/drawingml/2006/main">
              <a:ext uri="{FF2B5EF4-FFF2-40B4-BE49-F238E27FC236}">
                <a16:creationId xmlns:a16="http://schemas.microsoft.com/office/drawing/2014/main" id="{7D1AB9CB-A404-4976-9BBB-257565E55CDA}"/>
              </a:ext>
            </a:extLst>
          </p:cNvPr>
          <p:cNvSpPr>
            <a:spLocks xmlns:a="http://schemas.openxmlformats.org/drawingml/2006/main" noGrp="1"/>
          </p:cNvSpPr>
          <p:nvPr/>
        </p:nvSpPr>
        <p:spPr>
          <a:xfrm xmlns:a="http://schemas.openxmlformats.org/drawingml/2006/main">
            <a:off x="12192000" y="2571750"/>
            <a:ext cx="2476500" cy="2095500"/>
          </a:xfrm>
          <a:prstGeom xmlns:a="http://schemas.openxmlformats.org/drawingml/2006/main" prst="rect">
            <a:avLst/>
          </a:prstGeom>
          <a:solidFill xmlns:a="http://schemas.openxmlformats.org/drawingml/2006/main">
            <a:srgbClr val="0F303E"/>
          </a:solidFill>
          <a:ln xmlns:a="http://schemas.openxmlformats.org/drawingml/2006/main" w="19050">
            <a:solidFill>
              <a:srgbClr val="72E3CF"/>
            </a:solidFill>
            <a:prstDash val="solid"/>
          </a:ln>
        </p:spPr>
        <p:txBody>
          <a:bodyPr xmlns:a="http://schemas.openxmlformats.org/drawingml/2006/main" wrap="square" lIns="190500" tIns="190500" rIns="171450" bIns="171450" anchor="t">
            <a:noAutofit/>
          </a:bodyPr>
          <a:lstStyle xmlns:a="http://schemas.openxmlformats.org/drawingml/2006/main">
            <a:defPPr>
              <a:defRPr sz="1800">
                <a:solidFill>
                  <a:srgbClr val="F2F8FA"/>
                </a:solidFill>
                <a:latin typeface="Segoe UI"/>
                <a:ea typeface="Segoe UI"/>
                <a:cs typeface="Segoe UI"/>
              </a:defRPr>
            </a:defPPr>
          </a:lstStyle>
          <a:p xmlns:a="http://schemas.openxmlformats.org/drawingml/2006/main">
            <a:pPr>
              <a:spcAft>
                <a:spcPts val="600"/>
              </a:spcAft>
              <a:defRPr sz="1800">
                <a:solidFill>
                  <a:srgbClr val="F2F8FA"/>
                </a:solidFill>
                <a:latin typeface="Segoe UI"/>
                <a:ea typeface="Segoe UI"/>
                <a:cs typeface="Segoe UI"/>
              </a:defRPr>
            </a:pPr>
            <a:r>
              <a:rPr sz="2100" b="1">
                <a:solidFill>
                  <a:srgbClr val="72E3CF"/>
                </a:solidFill>
                <a:latin typeface="Segoe UI"/>
                <a:ea typeface="Segoe UI"/>
                <a:cs typeface="Segoe UI"/>
              </a:rPr>
              <a:t>Review interface</a:t>
            </a:r>
          </a:p>
          <a:p xmlns:a="http://schemas.openxmlformats.org/drawingml/2006/main">
            <a:pPr>
              <a:defRPr sz="1800">
                <a:solidFill>
                  <a:srgbClr val="F2F8FA"/>
                </a:solidFill>
                <a:latin typeface="Segoe UI"/>
                <a:ea typeface="Segoe UI"/>
                <a:cs typeface="Segoe UI"/>
              </a:defRPr>
            </a:pPr>
            <a:r>
              <a:rPr sz="1800">
                <a:solidFill>
                  <a:srgbClr val="F2F8FA"/>
                </a:solidFill>
                <a:latin typeface="Segoe UI"/>
                <a:ea typeface="Segoe UI"/>
                <a:cs typeface="Segoe UI"/>
              </a:rPr>
              <a:t>Interactive report</a:t>
            </a:r>
            <a:br>
              <a:rPr sz="1800">
                <a:solidFill>
                  <a:srgbClr val="F2F8FA"/>
                </a:solidFill>
                <a:latin typeface="Segoe UI"/>
                <a:ea typeface="Segoe UI"/>
                <a:cs typeface="Segoe UI"/>
              </a:rPr>
            </a:br>
            <a:r>
              <a:rPr sz="1800">
                <a:solidFill>
                  <a:srgbClr val="F2F8FA"/>
                </a:solidFill>
                <a:latin typeface="Segoe UI"/>
                <a:ea typeface="Segoe UI"/>
                <a:cs typeface="Segoe UI"/>
              </a:rPr>
              <a:t>Supplement preview</a:t>
            </a:r>
            <a:br>
              <a:rPr sz="1800">
                <a:solidFill>
                  <a:srgbClr val="F2F8FA"/>
                </a:solidFill>
                <a:latin typeface="Segoe UI"/>
                <a:ea typeface="Segoe UI"/>
                <a:cs typeface="Segoe UI"/>
              </a:rPr>
            </a:br>
            <a:r>
              <a:rPr sz="1800">
                <a:solidFill>
                  <a:srgbClr val="F2F8FA"/>
                </a:solidFill>
                <a:latin typeface="Segoe UI"/>
                <a:ea typeface="Segoe UI"/>
                <a:cs typeface="Segoe UI"/>
              </a:rPr>
              <a:t>Human review</a:t>
            </a:r>
          </a:p>
        </p:txBody>
      </p:sp>
      <p:sp>
        <p:nvSpPr>
          <p:cNvPr id="12" name="Execution controller">
            <a:extLst xmlns:a="http://schemas.openxmlformats.org/drawingml/2006/main">
              <a:ext uri="{FF2B5EF4-FFF2-40B4-BE49-F238E27FC236}">
                <a16:creationId xmlns:a16="http://schemas.microsoft.com/office/drawing/2014/main" id="{2805BECA-CC24-46CA-8D4E-F4D7C847FA03}"/>
              </a:ext>
            </a:extLst>
          </p:cNvPr>
          <p:cNvSpPr>
            <a:spLocks xmlns:a="http://schemas.openxmlformats.org/drawingml/2006/main" noGrp="1"/>
          </p:cNvSpPr>
          <p:nvPr/>
        </p:nvSpPr>
        <p:spPr>
          <a:xfrm xmlns:a="http://schemas.openxmlformats.org/drawingml/2006/main">
            <a:off x="3476625" y="5715000"/>
            <a:ext cx="5238750" cy="1666875"/>
          </a:xfrm>
          <a:prstGeom xmlns:a="http://schemas.openxmlformats.org/drawingml/2006/main" prst="rect">
            <a:avLst/>
          </a:prstGeom>
          <a:solidFill xmlns:a="http://schemas.openxmlformats.org/drawingml/2006/main">
            <a:srgbClr val="0F303E"/>
          </a:solidFill>
          <a:ln xmlns:a="http://schemas.openxmlformats.org/drawingml/2006/main" w="19050">
            <a:solidFill>
              <a:srgbClr val="72E3CF"/>
            </a:solidFill>
            <a:prstDash val="solid"/>
          </a:ln>
        </p:spPr>
        <p:txBody>
          <a:bodyPr xmlns:a="http://schemas.openxmlformats.org/drawingml/2006/main" wrap="square" lIns="190500" tIns="190500" rIns="171450" bIns="171450" anchor="t">
            <a:noAutofit/>
          </a:bodyPr>
          <a:lstStyle xmlns:a="http://schemas.openxmlformats.org/drawingml/2006/main">
            <a:defPPr>
              <a:defRPr sz="1800">
                <a:solidFill>
                  <a:srgbClr val="F2F8FA"/>
                </a:solidFill>
                <a:latin typeface="Segoe UI"/>
                <a:ea typeface="Segoe UI"/>
                <a:cs typeface="Segoe UI"/>
              </a:defRPr>
            </a:defPPr>
          </a:lstStyle>
          <a:p xmlns:a="http://schemas.openxmlformats.org/drawingml/2006/main">
            <a:pPr>
              <a:spcAft>
                <a:spcPts val="600"/>
              </a:spcAft>
              <a:defRPr sz="1800">
                <a:solidFill>
                  <a:srgbClr val="F2F8FA"/>
                </a:solidFill>
                <a:latin typeface="Segoe UI"/>
                <a:ea typeface="Segoe UI"/>
                <a:cs typeface="Segoe UI"/>
              </a:defRPr>
            </a:pPr>
            <a:r>
              <a:rPr sz="2100" b="1">
                <a:solidFill>
                  <a:srgbClr val="72E3CF"/>
                </a:solidFill>
                <a:latin typeface="Segoe UI"/>
                <a:ea typeface="Segoe UI"/>
                <a:cs typeface="Segoe UI"/>
              </a:rPr>
              <a:t>Execution controller</a:t>
            </a:r>
          </a:p>
          <a:p xmlns:a="http://schemas.openxmlformats.org/drawingml/2006/main">
            <a:pPr>
              <a:defRPr sz="1800">
                <a:solidFill>
                  <a:srgbClr val="F2F8FA"/>
                </a:solidFill>
                <a:latin typeface="Segoe UI"/>
                <a:ea typeface="Segoe UI"/>
                <a:cs typeface="Segoe UI"/>
              </a:defRPr>
            </a:pPr>
            <a:r>
              <a:rPr sz="1875">
                <a:solidFill>
                  <a:srgbClr val="F2F8FA"/>
                </a:solidFill>
                <a:latin typeface="Segoe UI"/>
                <a:ea typeface="Segoe UI"/>
                <a:cs typeface="Segoe UI"/>
              </a:rPr>
              <a:t>Call / time / token budgets</a:t>
            </a:r>
            <a:br>
              <a:rPr sz="1875">
                <a:solidFill>
                  <a:srgbClr val="F2F8FA"/>
                </a:solidFill>
                <a:latin typeface="Segoe UI"/>
                <a:ea typeface="Segoe UI"/>
                <a:cs typeface="Segoe UI"/>
              </a:rPr>
            </a:br>
            <a:r>
              <a:rPr sz="1875">
                <a:solidFill>
                  <a:srgbClr val="F2F8FA"/>
                </a:solidFill>
                <a:latin typeface="Segoe UI"/>
                <a:ea typeface="Segoe UI"/>
                <a:cs typeface="Segoe UI"/>
              </a:rPr>
              <a:t>Checkpoints and compatible CLI resume</a:t>
            </a:r>
          </a:p>
        </p:txBody>
      </p:sp>
      <p:sp>
        <p:nvSpPr>
          <p:cNvPr id="13" name="Provider adapters">
            <a:extLst xmlns:a="http://schemas.openxmlformats.org/drawingml/2006/main">
              <a:ext uri="{FF2B5EF4-FFF2-40B4-BE49-F238E27FC236}">
                <a16:creationId xmlns:a16="http://schemas.microsoft.com/office/drawing/2014/main" id="{781C3F6F-7481-4DA1-99B6-A69C1DCD6732}"/>
              </a:ext>
            </a:extLst>
          </p:cNvPr>
          <p:cNvSpPr>
            <a:spLocks xmlns:a="http://schemas.openxmlformats.org/drawingml/2006/main" noGrp="1"/>
          </p:cNvSpPr>
          <p:nvPr/>
        </p:nvSpPr>
        <p:spPr>
          <a:xfrm xmlns:a="http://schemas.openxmlformats.org/drawingml/2006/main">
            <a:off x="9810750" y="5715000"/>
            <a:ext cx="4857750" cy="1666875"/>
          </a:xfrm>
          <a:prstGeom xmlns:a="http://schemas.openxmlformats.org/drawingml/2006/main" prst="rect">
            <a:avLst/>
          </a:prstGeom>
          <a:solidFill xmlns:a="http://schemas.openxmlformats.org/drawingml/2006/main">
            <a:srgbClr val="0F303E"/>
          </a:solidFill>
          <a:ln xmlns:a="http://schemas.openxmlformats.org/drawingml/2006/main" w="19050">
            <a:solidFill>
              <a:srgbClr val="72E3CF"/>
            </a:solidFill>
            <a:prstDash val="dash"/>
          </a:ln>
        </p:spPr>
        <p:txBody>
          <a:bodyPr xmlns:a="http://schemas.openxmlformats.org/drawingml/2006/main" wrap="square" lIns="190500" tIns="190500" rIns="171450" bIns="171450" anchor="t">
            <a:noAutofit/>
          </a:bodyPr>
          <a:lstStyle xmlns:a="http://schemas.openxmlformats.org/drawingml/2006/main">
            <a:defPPr>
              <a:defRPr sz="1800">
                <a:solidFill>
                  <a:srgbClr val="F2F8FA"/>
                </a:solidFill>
                <a:latin typeface="Segoe UI"/>
                <a:ea typeface="Segoe UI"/>
                <a:cs typeface="Segoe UI"/>
              </a:defRPr>
            </a:defPPr>
          </a:lstStyle>
          <a:p xmlns:a="http://schemas.openxmlformats.org/drawingml/2006/main">
            <a:pPr>
              <a:spcAft>
                <a:spcPts val="600"/>
              </a:spcAft>
              <a:defRPr sz="1800">
                <a:solidFill>
                  <a:srgbClr val="F2F8FA"/>
                </a:solidFill>
                <a:latin typeface="Segoe UI"/>
                <a:ea typeface="Segoe UI"/>
                <a:cs typeface="Segoe UI"/>
              </a:defRPr>
            </a:pPr>
            <a:r>
              <a:rPr sz="2100" b="1">
                <a:solidFill>
                  <a:srgbClr val="72E3CF"/>
                </a:solidFill>
                <a:latin typeface="Segoe UI"/>
                <a:ea typeface="Segoe UI"/>
                <a:cs typeface="Segoe UI"/>
              </a:rPr>
              <a:t>Provider adapters</a:t>
            </a:r>
          </a:p>
          <a:p xmlns:a="http://schemas.openxmlformats.org/drawingml/2006/main">
            <a:pPr>
              <a:defRPr sz="1800">
                <a:solidFill>
                  <a:srgbClr val="F2F8FA"/>
                </a:solidFill>
                <a:latin typeface="Segoe UI"/>
                <a:ea typeface="Segoe UI"/>
                <a:cs typeface="Segoe UI"/>
              </a:defRPr>
            </a:pPr>
            <a:r>
              <a:rPr sz="1875">
                <a:solidFill>
                  <a:srgbClr val="F2F8FA"/>
                </a:solidFill>
                <a:latin typeface="Segoe UI"/>
                <a:ea typeface="Segoe UI"/>
                <a:cs typeface="Segoe UI"/>
              </a:rPr>
              <a:t>Offline default</a:t>
            </a:r>
            <a:br>
              <a:rPr sz="1875">
                <a:solidFill>
                  <a:srgbClr val="F2F8FA"/>
                </a:solidFill>
                <a:latin typeface="Segoe UI"/>
                <a:ea typeface="Segoe UI"/>
                <a:cs typeface="Segoe UI"/>
              </a:rPr>
            </a:br>
            <a:r>
              <a:rPr sz="1875">
                <a:solidFill>
                  <a:srgbClr val="F2F8FA"/>
                </a:solidFill>
                <a:latin typeface="Segoe UI"/>
                <a:ea typeface="Segoe UI"/>
                <a:cs typeface="Segoe UI"/>
              </a:rPr>
              <a:t>Optional live Vertex / Gemini</a:t>
            </a:r>
          </a:p>
        </p:txBody>
      </p:sp>
      <p:sp>
        <p:nvSpPr>
          <p:cNvPr id="16" name="text-3">
            <a:extLst xmlns:a="http://schemas.openxmlformats.org/drawingml/2006/main">
              <a:ext uri="{FF2B5EF4-FFF2-40B4-BE49-F238E27FC236}">
                <a16:creationId xmlns:a16="http://schemas.microsoft.com/office/drawing/2014/main" id="{2A3BDB64-4AA3-45E9-AAFC-1218B1022EF7}"/>
              </a:ext>
            </a:extLst>
          </p:cNvPr>
          <p:cNvSpPr>
            <a:spLocks xmlns:a="http://schemas.openxmlformats.org/drawingml/2006/main" noGrp="1"/>
          </p:cNvSpPr>
          <p:nvPr/>
        </p:nvSpPr>
        <p:spPr>
          <a:xfrm xmlns:a="http://schemas.openxmlformats.org/drawingml/2006/main">
            <a:off x="571500" y="5476875"/>
            <a:ext cx="2809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BED1D8"/>
                </a:solidFill>
                <a:latin typeface="Segoe UI"/>
                <a:ea typeface="Segoe UI"/>
                <a:cs typeface="Segoe UI"/>
              </a:defRPr>
            </a:defPPr>
          </a:lstStyle>
          <a:p xmlns:a="http://schemas.openxmlformats.org/drawingml/2006/main">
            <a:pPr>
              <a:defRPr sz="1950" b="0">
                <a:solidFill>
                  <a:srgbClr val="BED1D8"/>
                </a:solidFill>
                <a:latin typeface="Segoe UI"/>
                <a:ea typeface="Segoe UI"/>
                <a:cs typeface="Segoe UI"/>
              </a:defRPr>
            </a:pPr>
            <a:r>
              <a:rPr sz="1950" b="0">
                <a:solidFill>
                  <a:srgbClr val="BED1D8"/>
                </a:solidFill>
                <a:latin typeface="Segoe UI"/>
                <a:ea typeface="Segoe UI"/>
                <a:cs typeface="Segoe UI"/>
              </a:rPr>
              <a:t>Local Python modules</a:t>
            </a:r>
          </a:p>
        </p:txBody>
      </p:sp>
      <p:sp>
        <p:nvSpPr>
          <p:cNvPr id="17" name="text-4">
            <a:extLst xmlns:a="http://schemas.openxmlformats.org/drawingml/2006/main">
              <a:ext uri="{FF2B5EF4-FFF2-40B4-BE49-F238E27FC236}">
                <a16:creationId xmlns:a16="http://schemas.microsoft.com/office/drawing/2014/main" id="{37B439AE-C2FD-470A-AFDB-969B4D149A34}"/>
              </a:ext>
            </a:extLst>
          </p:cNvPr>
          <p:cNvSpPr>
            <a:spLocks xmlns:a="http://schemas.openxmlformats.org/drawingml/2006/main" noGrp="1"/>
          </p:cNvSpPr>
          <p:nvPr/>
        </p:nvSpPr>
        <p:spPr>
          <a:xfrm xmlns:a="http://schemas.openxmlformats.org/drawingml/2006/main">
            <a:off x="571500" y="7829550"/>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ED1D8"/>
                </a:solidFill>
                <a:latin typeface="Segoe UI"/>
                <a:ea typeface="Segoe UI"/>
                <a:cs typeface="Segoe UI"/>
              </a:defRPr>
            </a:defPPr>
          </a:lstStyle>
          <a:p xmlns:a="http://schemas.openxmlformats.org/drawingml/2006/main">
            <a:pPr>
              <a:defRPr sz="1875" b="0">
                <a:solidFill>
                  <a:srgbClr val="BED1D8"/>
                </a:solidFill>
                <a:latin typeface="Segoe UI"/>
                <a:ea typeface="Segoe UI"/>
                <a:cs typeface="Segoe UI"/>
              </a:defRPr>
            </a:pPr>
            <a:r>
              <a:rPr sz="1875" b="0">
                <a:solidFill>
                  <a:srgbClr val="BED1D8"/>
                </a:solidFill>
                <a:latin typeface="Segoe UI"/>
                <a:ea typeface="Segoe UI"/>
                <a:cs typeface="Segoe UI"/>
              </a:rPr>
              <a:t>The interface presents a suggestion and its sources; it does not execute a charge or refund.</a:t>
            </a:r>
          </a:p>
        </p:txBody>
      </p:sp>
    </p:spTree>
    <p:extLst>
      <p:ext uri="{BB962C8B-B14F-4D97-AF65-F5344CB8AC3E}">
        <p14:creationId xmlns:p14="http://schemas.microsoft.com/office/powerpoint/2010/main" val="1325634150"/>
      </p:ext>
    </p:extLst>
  </p:cSld>
</p:sld>
</file>

<file path=ppt/slides/slide2.xml><?xml version="1.0" encoding="utf-8"?>
<p:sld xmlns:p="http://schemas.openxmlformats.org/presentationml/2006/main">
  <p:cSld>
    <p:bg>
      <p:bgPr>
        <a:solidFill xmlns:a="http://schemas.openxmlformats.org/drawingml/2006/main">
          <a:srgbClr val="071D29"/>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B8E39407-D767-43FD-83F1-904895417209}"/>
              </a:ext>
            </a:extLst>
          </p:cNvPr>
          <p:cNvCxnSpPr>
            <a:stCxn xmlns:a="http://schemas.openxmlformats.org/drawingml/2006/main" id="7" idx="2"/>
            <a:endCxn xmlns:a="http://schemas.openxmlformats.org/drawingml/2006/main" id="16" idx="0"/>
          </p:cNvCxnSpPr>
          <p:nvPr/>
        </p:nvCxnSpPr>
        <p:spPr>
          <a:xfrm xmlns:a="http://schemas.openxmlformats.org/drawingml/2006/main" flipH="1">
            <a:off x="11977688" y="4667250"/>
            <a:ext cx="1452563" cy="952500"/>
          </a:xfrm>
          <a:prstGeom xmlns:a="http://schemas.openxmlformats.org/drawingml/2006/main" prst="bentConnector4">
            <a:avLst>
              <a:gd name="adj1" fmla="val 0"/>
              <a:gd name="adj2" fmla="val 50000"/>
            </a:avLst>
          </a:prstGeom>
          <a:ln xmlns:a="http://schemas.openxmlformats.org/drawingml/2006/main" w="28575">
            <a:solidFill>
              <a:srgbClr val="72E3CF"/>
            </a:solidFill>
            <a:prstDash val="dash"/>
            <a:tailEnd type="triangle" w="med" len="med"/>
          </a:ln>
        </p:spPr>
      </p:cxnSp>
      <p:cxnSp>
        <p:nvCxnSpPr>
          <p:cNvPr id="15" name="">
            <a:extLst xmlns:a="http://schemas.openxmlformats.org/drawingml/2006/main">
              <a:ext uri="{FF2B5EF4-FFF2-40B4-BE49-F238E27FC236}">
                <a16:creationId xmlns:a16="http://schemas.microsoft.com/office/drawing/2014/main" id="{C0EDFEAF-80ED-4F6A-8379-BD0162052949}"/>
              </a:ext>
            </a:extLst>
          </p:cNvPr>
          <p:cNvCxnSpPr>
            <a:stCxn xmlns:a="http://schemas.openxmlformats.org/drawingml/2006/main" id="3" idx="2"/>
            <a:endCxn xmlns:a="http://schemas.openxmlformats.org/drawingml/2006/main" id="14" idx="0"/>
          </p:cNvCxnSpPr>
          <p:nvPr/>
        </p:nvCxnSpPr>
        <p:spPr>
          <a:xfrm xmlns:a="http://schemas.openxmlformats.org/drawingml/2006/main">
            <a:off x="1809750" y="4667250"/>
            <a:ext cx="1619250" cy="952500"/>
          </a:xfrm>
          <a:prstGeom xmlns:a="http://schemas.openxmlformats.org/drawingml/2006/main" prst="bentConnector4">
            <a:avLst>
              <a:gd name="adj1" fmla="val 0"/>
              <a:gd name="adj2" fmla="val 76000"/>
            </a:avLst>
          </a:prstGeom>
          <a:ln xmlns:a="http://schemas.openxmlformats.org/drawingml/2006/main" w="28575">
            <a:solidFill>
              <a:srgbClr val="F3C777"/>
            </a:solidFill>
            <a:prstDash val="solid"/>
            <a:tailEnd type="triangle" w="med" len="med"/>
          </a:ln>
        </p:spPr>
      </p:cxnSp>
      <p:cxnSp>
        <p:nvCxnSpPr>
          <p:cNvPr id="11" name="">
            <a:extLst xmlns:a="http://schemas.openxmlformats.org/drawingml/2006/main">
              <a:ext uri="{FF2B5EF4-FFF2-40B4-BE49-F238E27FC236}">
                <a16:creationId xmlns:a16="http://schemas.microsoft.com/office/drawing/2014/main" id="{8BB65255-7C95-4FD5-8BC0-E6F67494606D}"/>
              </a:ext>
            </a:extLst>
          </p:cNvPr>
          <p:cNvCxnSpPr>
            <a:stCxn xmlns:a="http://schemas.openxmlformats.org/drawingml/2006/main" id="6" idx="3"/>
            <a:endCxn xmlns:a="http://schemas.openxmlformats.org/drawingml/2006/main" id="7" idx="1"/>
          </p:cNvCxnSpPr>
          <p:nvPr/>
        </p:nvCxnSpPr>
        <p:spPr>
          <a:xfrm xmlns:a="http://schemas.openxmlformats.org/drawingml/2006/main">
            <a:off x="11763375" y="3619500"/>
            <a:ext cx="428625" cy="0"/>
          </a:xfrm>
          <a:prstGeom xmlns:a="http://schemas.openxmlformats.org/drawingml/2006/main" prst="straightConnector1">
            <a:avLst/>
          </a:prstGeom>
          <a:ln xmlns:a="http://schemas.openxmlformats.org/drawingml/2006/main" w="28575">
            <a:solidFill>
              <a:srgbClr val="72E3CF"/>
            </a:solidFill>
            <a:prstDash val="solid"/>
            <a:tailEnd type="triangle" w="med" len="med"/>
          </a:ln>
        </p:spPr>
      </p:cxnSp>
      <p:cxnSp>
        <p:nvCxnSpPr>
          <p:cNvPr id="10" name="">
            <a:extLst xmlns:a="http://schemas.openxmlformats.org/drawingml/2006/main">
              <a:ext uri="{FF2B5EF4-FFF2-40B4-BE49-F238E27FC236}">
                <a16:creationId xmlns:a16="http://schemas.microsoft.com/office/drawing/2014/main" id="{6A79E977-2789-4562-B6A1-29E0F77E9D0C}"/>
              </a:ext>
            </a:extLst>
          </p:cNvPr>
          <p:cNvCxnSpPr>
            <a:stCxn xmlns:a="http://schemas.openxmlformats.org/drawingml/2006/main" id="5" idx="3"/>
            <a:endCxn xmlns:a="http://schemas.openxmlformats.org/drawingml/2006/main" id="6" idx="1"/>
          </p:cNvCxnSpPr>
          <p:nvPr/>
        </p:nvCxnSpPr>
        <p:spPr>
          <a:xfrm xmlns:a="http://schemas.openxmlformats.org/drawingml/2006/main">
            <a:off x="8858250" y="3619500"/>
            <a:ext cx="428625" cy="0"/>
          </a:xfrm>
          <a:prstGeom xmlns:a="http://schemas.openxmlformats.org/drawingml/2006/main" prst="straightConnector1">
            <a:avLst/>
          </a:prstGeom>
          <a:ln xmlns:a="http://schemas.openxmlformats.org/drawingml/2006/main" w="28575">
            <a:solidFill>
              <a:srgbClr val="72E3CF"/>
            </a:solidFill>
            <a:prstDash val="solid"/>
            <a:tailEnd type="triangle" w="med" len="med"/>
          </a:ln>
        </p:spPr>
      </p:cxnSp>
      <p:cxnSp>
        <p:nvCxnSpPr>
          <p:cNvPr id="9" name="">
            <a:extLst xmlns:a="http://schemas.openxmlformats.org/drawingml/2006/main">
              <a:ext uri="{FF2B5EF4-FFF2-40B4-BE49-F238E27FC236}">
                <a16:creationId xmlns:a16="http://schemas.microsoft.com/office/drawing/2014/main" id="{4E325285-7E04-4B69-9197-C6AC6397BF57}"/>
              </a:ext>
            </a:extLst>
          </p:cNvPr>
          <p:cNvCxnSpPr>
            <a:stCxn xmlns:a="http://schemas.openxmlformats.org/drawingml/2006/main" id="4" idx="3"/>
            <a:endCxn xmlns:a="http://schemas.openxmlformats.org/drawingml/2006/main" id="5" idx="1"/>
          </p:cNvCxnSpPr>
          <p:nvPr/>
        </p:nvCxnSpPr>
        <p:spPr>
          <a:xfrm xmlns:a="http://schemas.openxmlformats.org/drawingml/2006/main">
            <a:off x="5953125" y="3619500"/>
            <a:ext cx="428625" cy="0"/>
          </a:xfrm>
          <a:prstGeom xmlns:a="http://schemas.openxmlformats.org/drawingml/2006/main" prst="straightConnector1">
            <a:avLst/>
          </a:prstGeom>
          <a:ln xmlns:a="http://schemas.openxmlformats.org/drawingml/2006/main" w="28575">
            <a:solidFill>
              <a:srgbClr val="72E3CF"/>
            </a:solidFill>
            <a:prstDash val="solid"/>
            <a:tailEnd type="triangle" w="med" len="med"/>
          </a:ln>
        </p:spPr>
      </p:cxnSp>
      <p:cxnSp>
        <p:nvCxnSpPr>
          <p:cNvPr id="8" name="">
            <a:extLst xmlns:a="http://schemas.openxmlformats.org/drawingml/2006/main">
              <a:ext uri="{FF2B5EF4-FFF2-40B4-BE49-F238E27FC236}">
                <a16:creationId xmlns:a16="http://schemas.microsoft.com/office/drawing/2014/main" id="{26172A55-6BF3-4F9E-A239-82423AF6DC0D}"/>
              </a:ext>
            </a:extLst>
          </p:cNvPr>
          <p:cNvCxnSpPr>
            <a:stCxn xmlns:a="http://schemas.openxmlformats.org/drawingml/2006/main" id="3" idx="3"/>
            <a:endCxn xmlns:a="http://schemas.openxmlformats.org/drawingml/2006/main" id="4" idx="1"/>
          </p:cNvCxnSpPr>
          <p:nvPr/>
        </p:nvCxnSpPr>
        <p:spPr>
          <a:xfrm xmlns:a="http://schemas.openxmlformats.org/drawingml/2006/main">
            <a:off x="3048000" y="3619500"/>
            <a:ext cx="428625" cy="0"/>
          </a:xfrm>
          <a:prstGeom xmlns:a="http://schemas.openxmlformats.org/drawingml/2006/main" prst="straightConnector1">
            <a:avLst/>
          </a:prstGeom>
          <a:ln xmlns:a="http://schemas.openxmlformats.org/drawingml/2006/main" w="28575">
            <a:solidFill>
              <a:srgbClr val="72E3CF"/>
            </a:solidFill>
            <a:prstDash val="solid"/>
            <a:tailEnd type="triangle" w="med" len="med"/>
          </a:ln>
        </p:spPr>
      </p:cxnSp>
      <p:sp>
        <p:nvSpPr>
          <p:cNvPr id="19" name="text-5">
            <a:extLst xmlns:a="http://schemas.openxmlformats.org/drawingml/2006/main">
              <a:ext uri="{FF2B5EF4-FFF2-40B4-BE49-F238E27FC236}">
                <a16:creationId xmlns:a16="http://schemas.microsoft.com/office/drawing/2014/main" id="{F0C79B24-2FE8-446C-A6F8-FFC60D92E2B9}"/>
              </a:ext>
            </a:extLst>
          </p:cNvPr>
          <p:cNvSpPr>
            <a:spLocks xmlns:a="http://schemas.openxmlformats.org/drawingml/2006/main" noGrp="1"/>
          </p:cNvSpPr>
          <p:nvPr/>
        </p:nvSpPr>
        <p:spPr>
          <a:xfrm xmlns:a="http://schemas.openxmlformats.org/drawingml/2006/main">
            <a:off x="571500" y="45720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00" b="1">
                <a:solidFill>
                  <a:srgbClr val="F2F8FA"/>
                </a:solidFill>
                <a:latin typeface="Segoe UI"/>
                <a:ea typeface="Segoe UI"/>
                <a:cs typeface="Segoe UI"/>
              </a:defRPr>
            </a:defPPr>
          </a:lstStyle>
          <a:p xmlns:a="http://schemas.openxmlformats.org/drawingml/2006/main">
            <a:pPr>
              <a:defRPr sz="4200" b="1">
                <a:solidFill>
                  <a:srgbClr val="F2F8FA"/>
                </a:solidFill>
                <a:latin typeface="Segoe UI"/>
                <a:ea typeface="Segoe UI"/>
                <a:cs typeface="Segoe UI"/>
              </a:defRPr>
            </a:pPr>
            <a:r>
              <a:rPr sz="4200" b="1">
                <a:solidFill>
                  <a:srgbClr val="F2F8FA"/>
                </a:solidFill>
                <a:latin typeface="Segoe UI"/>
                <a:ea typeface="Segoe UI"/>
                <a:cs typeface="Segoe UI"/>
              </a:rPr>
              <a:t>Agent execution and decision gates</a:t>
            </a:r>
          </a:p>
        </p:txBody>
      </p:sp>
      <p:sp>
        <p:nvSpPr>
          <p:cNvPr id="2" name="text-6">
            <a:extLst xmlns:a="http://schemas.openxmlformats.org/drawingml/2006/main">
              <a:ext uri="{FF2B5EF4-FFF2-40B4-BE49-F238E27FC236}">
                <a16:creationId xmlns:a16="http://schemas.microsoft.com/office/drawing/2014/main" id="{9E814080-8A4E-4DC5-BA6E-C08BDB8282A7}"/>
              </a:ext>
            </a:extLst>
          </p:cNvPr>
          <p:cNvSpPr>
            <a:spLocks xmlns:a="http://schemas.openxmlformats.org/drawingml/2006/main" noGrp="1"/>
          </p:cNvSpPr>
          <p:nvPr/>
        </p:nvSpPr>
        <p:spPr>
          <a:xfrm xmlns:a="http://schemas.openxmlformats.org/drawingml/2006/main">
            <a:off x="600075" y="1323975"/>
            <a:ext cx="1400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BED1D8"/>
                </a:solidFill>
                <a:latin typeface="Segoe UI"/>
                <a:ea typeface="Segoe UI"/>
                <a:cs typeface="Segoe UI"/>
              </a:defRPr>
            </a:defPPr>
          </a:lstStyle>
          <a:p xmlns:a="http://schemas.openxmlformats.org/drawingml/2006/main">
            <a:pPr>
              <a:defRPr sz="2100" b="0">
                <a:solidFill>
                  <a:srgbClr val="BED1D8"/>
                </a:solidFill>
                <a:latin typeface="Segoe UI"/>
                <a:ea typeface="Segoe UI"/>
                <a:cs typeface="Segoe UI"/>
              </a:defRPr>
            </a:pPr>
            <a:r>
              <a:rPr sz="2100" b="0">
                <a:solidFill>
                  <a:srgbClr val="BED1D8"/>
                </a:solidFill>
                <a:latin typeface="Segoe UI"/>
                <a:ea typeface="Segoe UI"/>
                <a:cs typeface="Segoe UI"/>
              </a:rPr>
              <a:t>One shared evidence snapshot, four Advocate turns and a Judge</a:t>
            </a:r>
          </a:p>
        </p:txBody>
      </p:sp>
      <p:sp>
        <p:nvSpPr>
          <p:cNvPr id="3" name="Prepare case">
            <a:extLst xmlns:a="http://schemas.openxmlformats.org/drawingml/2006/main">
              <a:ext uri="{FF2B5EF4-FFF2-40B4-BE49-F238E27FC236}">
                <a16:creationId xmlns:a16="http://schemas.microsoft.com/office/drawing/2014/main" id="{1B6626B5-AA2A-4831-A986-93203D4EC886}"/>
              </a:ext>
            </a:extLst>
          </p:cNvPr>
          <p:cNvSpPr>
            <a:spLocks xmlns:a="http://schemas.openxmlformats.org/drawingml/2006/main" noGrp="1"/>
          </p:cNvSpPr>
          <p:nvPr/>
        </p:nvSpPr>
        <p:spPr>
          <a:xfrm xmlns:a="http://schemas.openxmlformats.org/drawingml/2006/main">
            <a:off x="571500" y="2571750"/>
            <a:ext cx="2476500" cy="2095500"/>
          </a:xfrm>
          <a:prstGeom xmlns:a="http://schemas.openxmlformats.org/drawingml/2006/main" prst="rect">
            <a:avLst/>
          </a:prstGeom>
          <a:solidFill xmlns:a="http://schemas.openxmlformats.org/drawingml/2006/main">
            <a:srgbClr val="0F303E"/>
          </a:solidFill>
          <a:ln xmlns:a="http://schemas.openxmlformats.org/drawingml/2006/main" w="19050">
            <a:solidFill>
              <a:srgbClr val="72E3CF"/>
            </a:solidFill>
            <a:prstDash val="solid"/>
          </a:ln>
        </p:spPr>
        <p:txBody>
          <a:bodyPr xmlns:a="http://schemas.openxmlformats.org/drawingml/2006/main" wrap="square" lIns="190500" tIns="190500" rIns="171450" bIns="171450" anchor="t">
            <a:noAutofit/>
          </a:bodyPr>
          <a:lstStyle xmlns:a="http://schemas.openxmlformats.org/drawingml/2006/main">
            <a:defPPr>
              <a:defRPr sz="1800">
                <a:solidFill>
                  <a:srgbClr val="F2F8FA"/>
                </a:solidFill>
                <a:latin typeface="Segoe UI"/>
                <a:ea typeface="Segoe UI"/>
                <a:cs typeface="Segoe UI"/>
              </a:defRPr>
            </a:defPPr>
          </a:lstStyle>
          <a:p xmlns:a="http://schemas.openxmlformats.org/drawingml/2006/main">
            <a:pPr>
              <a:spcAft>
                <a:spcPts val="600"/>
              </a:spcAft>
              <a:defRPr sz="1800">
                <a:solidFill>
                  <a:srgbClr val="F2F8FA"/>
                </a:solidFill>
                <a:latin typeface="Segoe UI"/>
                <a:ea typeface="Segoe UI"/>
                <a:cs typeface="Segoe UI"/>
              </a:defRPr>
            </a:pPr>
            <a:r>
              <a:rPr sz="2100" b="1">
                <a:solidFill>
                  <a:srgbClr val="72E3CF"/>
                </a:solidFill>
                <a:latin typeface="Segoe UI"/>
                <a:ea typeface="Segoe UI"/>
                <a:cs typeface="Segoe UI"/>
              </a:rPr>
              <a:t>Prepare case</a:t>
            </a:r>
          </a:p>
          <a:p xmlns:a="http://schemas.openxmlformats.org/drawingml/2006/main">
            <a:pPr>
              <a:defRPr sz="1800">
                <a:solidFill>
                  <a:srgbClr val="F2F8FA"/>
                </a:solidFill>
                <a:latin typeface="Segoe UI"/>
                <a:ea typeface="Segoe UI"/>
                <a:cs typeface="Segoe UI"/>
              </a:defRPr>
            </a:pPr>
            <a:r>
              <a:rPr sz="1800">
                <a:solidFill>
                  <a:srgbClr val="F2F8FA"/>
                </a:solidFill>
                <a:latin typeface="Segoe UI"/>
                <a:ea typeface="Segoe UI"/>
                <a:cs typeface="Segoe UI"/>
              </a:rPr>
              <a:t>Verify the snapshot</a:t>
            </a:r>
            <a:br>
              <a:rPr sz="1800">
                <a:solidFill>
                  <a:srgbClr val="F2F8FA"/>
                </a:solidFill>
                <a:latin typeface="Segoe UI"/>
                <a:ea typeface="Segoe UI"/>
                <a:cs typeface="Segoe UI"/>
              </a:rPr>
            </a:br>
            <a:r>
              <a:rPr sz="1800">
                <a:solidFill>
                  <a:srgbClr val="F2F8FA"/>
                </a:solidFill>
                <a:latin typeface="Segoe UI"/>
                <a:ea typeface="Segoe UI"/>
                <a:cs typeface="Segoe UI"/>
              </a:rPr>
              <a:t>Policy calculations</a:t>
            </a:r>
            <a:br>
              <a:rPr sz="1800">
                <a:solidFill>
                  <a:srgbClr val="F2F8FA"/>
                </a:solidFill>
                <a:latin typeface="Segoe UI"/>
                <a:ea typeface="Segoe UI"/>
                <a:cs typeface="Segoe UI"/>
              </a:rPr>
            </a:br>
            <a:r>
              <a:rPr sz="1800">
                <a:solidFill>
                  <a:srgbClr val="F2F8FA"/>
                </a:solidFill>
                <a:latin typeface="Segoe UI"/>
                <a:ea typeface="Segoe UI"/>
                <a:cs typeface="Segoe UI"/>
              </a:rPr>
              <a:t>Check safety gates</a:t>
            </a:r>
          </a:p>
        </p:txBody>
      </p:sp>
      <p:sp>
        <p:nvSpPr>
          <p:cNvPr id="4" name="Opening round">
            <a:extLst xmlns:a="http://schemas.openxmlformats.org/drawingml/2006/main">
              <a:ext uri="{FF2B5EF4-FFF2-40B4-BE49-F238E27FC236}">
                <a16:creationId xmlns:a16="http://schemas.microsoft.com/office/drawing/2014/main" id="{86A9F3ED-6005-40DF-B5EA-3A34F4AA11D6}"/>
              </a:ext>
            </a:extLst>
          </p:cNvPr>
          <p:cNvSpPr>
            <a:spLocks xmlns:a="http://schemas.openxmlformats.org/drawingml/2006/main" noGrp="1"/>
          </p:cNvSpPr>
          <p:nvPr/>
        </p:nvSpPr>
        <p:spPr>
          <a:xfrm xmlns:a="http://schemas.openxmlformats.org/drawingml/2006/main">
            <a:off x="3476625" y="2571750"/>
            <a:ext cx="2476500" cy="2095500"/>
          </a:xfrm>
          <a:prstGeom xmlns:a="http://schemas.openxmlformats.org/drawingml/2006/main" prst="rect">
            <a:avLst/>
          </a:prstGeom>
          <a:solidFill xmlns:a="http://schemas.openxmlformats.org/drawingml/2006/main">
            <a:srgbClr val="0F303E"/>
          </a:solidFill>
          <a:ln xmlns:a="http://schemas.openxmlformats.org/drawingml/2006/main" w="19050">
            <a:solidFill>
              <a:srgbClr val="72E3CF"/>
            </a:solidFill>
            <a:prstDash val="solid"/>
          </a:ln>
        </p:spPr>
        <p:txBody>
          <a:bodyPr xmlns:a="http://schemas.openxmlformats.org/drawingml/2006/main" wrap="square" lIns="190500" tIns="190500" rIns="171450" bIns="171450" anchor="t">
            <a:noAutofit/>
          </a:bodyPr>
          <a:lstStyle xmlns:a="http://schemas.openxmlformats.org/drawingml/2006/main">
            <a:defPPr>
              <a:defRPr sz="1800">
                <a:solidFill>
                  <a:srgbClr val="F2F8FA"/>
                </a:solidFill>
                <a:latin typeface="Segoe UI"/>
                <a:ea typeface="Segoe UI"/>
                <a:cs typeface="Segoe UI"/>
              </a:defRPr>
            </a:defPPr>
          </a:lstStyle>
          <a:p xmlns:a="http://schemas.openxmlformats.org/drawingml/2006/main">
            <a:pPr>
              <a:spcAft>
                <a:spcPts val="600"/>
              </a:spcAft>
              <a:defRPr sz="1800">
                <a:solidFill>
                  <a:srgbClr val="F2F8FA"/>
                </a:solidFill>
                <a:latin typeface="Segoe UI"/>
                <a:ea typeface="Segoe UI"/>
                <a:cs typeface="Segoe UI"/>
              </a:defRPr>
            </a:pPr>
            <a:r>
              <a:rPr sz="2100" b="1">
                <a:solidFill>
                  <a:srgbClr val="72E3CF"/>
                </a:solidFill>
                <a:latin typeface="Segoe UI"/>
                <a:ea typeface="Segoe UI"/>
                <a:cs typeface="Segoe UI"/>
              </a:rPr>
              <a:t>Opening round</a:t>
            </a:r>
          </a:p>
          <a:p xmlns:a="http://schemas.openxmlformats.org/drawingml/2006/main">
            <a:pPr>
              <a:defRPr sz="1800">
                <a:solidFill>
                  <a:srgbClr val="F2F8FA"/>
                </a:solidFill>
                <a:latin typeface="Segoe UI"/>
                <a:ea typeface="Segoe UI"/>
                <a:cs typeface="Segoe UI"/>
              </a:defRPr>
            </a:pPr>
            <a:r>
              <a:rPr sz="1800">
                <a:solidFill>
                  <a:srgbClr val="F2F8FA"/>
                </a:solidFill>
                <a:latin typeface="Segoe UI"/>
                <a:ea typeface="Segoe UI"/>
                <a:cs typeface="Segoe UI"/>
              </a:rPr>
              <a:t>Rider opening</a:t>
            </a:r>
            <a:br>
              <a:rPr sz="1800">
                <a:solidFill>
                  <a:srgbClr val="F2F8FA"/>
                </a:solidFill>
                <a:latin typeface="Segoe UI"/>
                <a:ea typeface="Segoe UI"/>
                <a:cs typeface="Segoe UI"/>
              </a:rPr>
            </a:br>
            <a:r>
              <a:rPr sz="1800">
                <a:solidFill>
                  <a:srgbClr val="F2F8FA"/>
                </a:solidFill>
                <a:latin typeface="Segoe UI"/>
                <a:ea typeface="Segoe UI"/>
                <a:cs typeface="Segoe UI"/>
              </a:rPr>
              <a:t>Driver opening</a:t>
            </a:r>
            <a:br>
              <a:rPr sz="1800">
                <a:solidFill>
                  <a:srgbClr val="F2F8FA"/>
                </a:solidFill>
                <a:latin typeface="Segoe UI"/>
                <a:ea typeface="Segoe UI"/>
                <a:cs typeface="Segoe UI"/>
              </a:rPr>
            </a:br>
            <a:r>
              <a:rPr sz="1800">
                <a:solidFill>
                  <a:srgbClr val="F2F8FA"/>
                </a:solidFill>
                <a:latin typeface="Segoe UI"/>
                <a:ea typeface="Segoe UI"/>
                <a:cs typeface="Segoe UI"/>
              </a:rPr>
              <a:t>Same evidence</a:t>
            </a:r>
          </a:p>
        </p:txBody>
      </p:sp>
      <p:sp>
        <p:nvSpPr>
          <p:cNvPr id="5" name="Response round">
            <a:extLst xmlns:a="http://schemas.openxmlformats.org/drawingml/2006/main">
              <a:ext uri="{FF2B5EF4-FFF2-40B4-BE49-F238E27FC236}">
                <a16:creationId xmlns:a16="http://schemas.microsoft.com/office/drawing/2014/main" id="{C19278BC-3C8F-449C-8EF9-E2C2E0FBAF70}"/>
              </a:ext>
            </a:extLst>
          </p:cNvPr>
          <p:cNvSpPr>
            <a:spLocks xmlns:a="http://schemas.openxmlformats.org/drawingml/2006/main" noGrp="1"/>
          </p:cNvSpPr>
          <p:nvPr/>
        </p:nvSpPr>
        <p:spPr>
          <a:xfrm xmlns:a="http://schemas.openxmlformats.org/drawingml/2006/main">
            <a:off x="6381750" y="2571750"/>
            <a:ext cx="2476500" cy="2095500"/>
          </a:xfrm>
          <a:prstGeom xmlns:a="http://schemas.openxmlformats.org/drawingml/2006/main" prst="rect">
            <a:avLst/>
          </a:prstGeom>
          <a:solidFill xmlns:a="http://schemas.openxmlformats.org/drawingml/2006/main">
            <a:srgbClr val="0F303E"/>
          </a:solidFill>
          <a:ln xmlns:a="http://schemas.openxmlformats.org/drawingml/2006/main" w="19050">
            <a:solidFill>
              <a:srgbClr val="72E3CF"/>
            </a:solidFill>
            <a:prstDash val="solid"/>
          </a:ln>
        </p:spPr>
        <p:txBody>
          <a:bodyPr xmlns:a="http://schemas.openxmlformats.org/drawingml/2006/main" wrap="square" lIns="190500" tIns="190500" rIns="171450" bIns="171450" anchor="t">
            <a:noAutofit/>
          </a:bodyPr>
          <a:lstStyle xmlns:a="http://schemas.openxmlformats.org/drawingml/2006/main">
            <a:defPPr>
              <a:defRPr sz="1800">
                <a:solidFill>
                  <a:srgbClr val="F2F8FA"/>
                </a:solidFill>
                <a:latin typeface="Segoe UI"/>
                <a:ea typeface="Segoe UI"/>
                <a:cs typeface="Segoe UI"/>
              </a:defRPr>
            </a:defPPr>
          </a:lstStyle>
          <a:p xmlns:a="http://schemas.openxmlformats.org/drawingml/2006/main">
            <a:pPr>
              <a:spcAft>
                <a:spcPts val="600"/>
              </a:spcAft>
              <a:defRPr sz="1800">
                <a:solidFill>
                  <a:srgbClr val="F2F8FA"/>
                </a:solidFill>
                <a:latin typeface="Segoe UI"/>
                <a:ea typeface="Segoe UI"/>
                <a:cs typeface="Segoe UI"/>
              </a:defRPr>
            </a:pPr>
            <a:r>
              <a:rPr sz="2100" b="1">
                <a:solidFill>
                  <a:srgbClr val="72E3CF"/>
                </a:solidFill>
                <a:latin typeface="Segoe UI"/>
                <a:ea typeface="Segoe UI"/>
                <a:cs typeface="Segoe UI"/>
              </a:rPr>
              <a:t>Response round</a:t>
            </a:r>
          </a:p>
          <a:p xmlns:a="http://schemas.openxmlformats.org/drawingml/2006/main">
            <a:pPr>
              <a:defRPr sz="1800">
                <a:solidFill>
                  <a:srgbClr val="F2F8FA"/>
                </a:solidFill>
                <a:latin typeface="Segoe UI"/>
                <a:ea typeface="Segoe UI"/>
                <a:cs typeface="Segoe UI"/>
              </a:defRPr>
            </a:pPr>
            <a:r>
              <a:rPr sz="1800">
                <a:solidFill>
                  <a:srgbClr val="F2F8FA"/>
                </a:solidFill>
                <a:latin typeface="Segoe UI"/>
                <a:ea typeface="Segoe UI"/>
                <a:cs typeface="Segoe UI"/>
              </a:rPr>
              <a:t>Rider response</a:t>
            </a:r>
            <a:br>
              <a:rPr sz="1800">
                <a:solidFill>
                  <a:srgbClr val="F2F8FA"/>
                </a:solidFill>
                <a:latin typeface="Segoe UI"/>
                <a:ea typeface="Segoe UI"/>
                <a:cs typeface="Segoe UI"/>
              </a:rPr>
            </a:br>
            <a:r>
              <a:rPr sz="1800">
                <a:solidFill>
                  <a:srgbClr val="F2F8FA"/>
                </a:solidFill>
                <a:latin typeface="Segoe UI"/>
                <a:ea typeface="Segoe UI"/>
                <a:cs typeface="Segoe UI"/>
              </a:rPr>
              <a:t>Driver response</a:t>
            </a:r>
            <a:br>
              <a:rPr sz="1800">
                <a:solidFill>
                  <a:srgbClr val="F2F8FA"/>
                </a:solidFill>
                <a:latin typeface="Segoe UI"/>
                <a:ea typeface="Segoe UI"/>
                <a:cs typeface="Segoe UI"/>
              </a:rPr>
            </a:br>
            <a:r>
              <a:rPr sz="1800">
                <a:solidFill>
                  <a:srgbClr val="F2F8FA"/>
                </a:solidFill>
                <a:latin typeface="Segoe UI"/>
                <a:ea typeface="Segoe UI"/>
                <a:cs typeface="Segoe UI"/>
              </a:rPr>
              <a:t>Other opening only</a:t>
            </a:r>
          </a:p>
        </p:txBody>
      </p:sp>
      <p:sp>
        <p:nvSpPr>
          <p:cNvPr id="6" name="Judge">
            <a:extLst xmlns:a="http://schemas.openxmlformats.org/drawingml/2006/main">
              <a:ext uri="{FF2B5EF4-FFF2-40B4-BE49-F238E27FC236}">
                <a16:creationId xmlns:a16="http://schemas.microsoft.com/office/drawing/2014/main" id="{881C473B-1C13-4131-97B6-416E25910B01}"/>
              </a:ext>
            </a:extLst>
          </p:cNvPr>
          <p:cNvSpPr>
            <a:spLocks xmlns:a="http://schemas.openxmlformats.org/drawingml/2006/main" noGrp="1"/>
          </p:cNvSpPr>
          <p:nvPr/>
        </p:nvSpPr>
        <p:spPr>
          <a:xfrm xmlns:a="http://schemas.openxmlformats.org/drawingml/2006/main">
            <a:off x="9286875" y="2571750"/>
            <a:ext cx="2476500" cy="2095500"/>
          </a:xfrm>
          <a:prstGeom xmlns:a="http://schemas.openxmlformats.org/drawingml/2006/main" prst="rect">
            <a:avLst/>
          </a:prstGeom>
          <a:solidFill xmlns:a="http://schemas.openxmlformats.org/drawingml/2006/main">
            <a:srgbClr val="0F303E"/>
          </a:solidFill>
          <a:ln xmlns:a="http://schemas.openxmlformats.org/drawingml/2006/main" w="19050">
            <a:solidFill>
              <a:srgbClr val="72E3CF"/>
            </a:solidFill>
            <a:prstDash val="solid"/>
          </a:ln>
        </p:spPr>
        <p:txBody>
          <a:bodyPr xmlns:a="http://schemas.openxmlformats.org/drawingml/2006/main" wrap="square" lIns="190500" tIns="190500" rIns="171450" bIns="171450" anchor="t">
            <a:noAutofit/>
          </a:bodyPr>
          <a:lstStyle xmlns:a="http://schemas.openxmlformats.org/drawingml/2006/main">
            <a:defPPr>
              <a:defRPr sz="1800">
                <a:solidFill>
                  <a:srgbClr val="F2F8FA"/>
                </a:solidFill>
                <a:latin typeface="Segoe UI"/>
                <a:ea typeface="Segoe UI"/>
                <a:cs typeface="Segoe UI"/>
              </a:defRPr>
            </a:defPPr>
          </a:lstStyle>
          <a:p xmlns:a="http://schemas.openxmlformats.org/drawingml/2006/main">
            <a:pPr>
              <a:spcAft>
                <a:spcPts val="600"/>
              </a:spcAft>
              <a:defRPr sz="1800">
                <a:solidFill>
                  <a:srgbClr val="F2F8FA"/>
                </a:solidFill>
                <a:latin typeface="Segoe UI"/>
                <a:ea typeface="Segoe UI"/>
                <a:cs typeface="Segoe UI"/>
              </a:defRPr>
            </a:pPr>
            <a:r>
              <a:rPr sz="2100" b="1">
                <a:solidFill>
                  <a:srgbClr val="72E3CF"/>
                </a:solidFill>
                <a:latin typeface="Segoe UI"/>
                <a:ea typeface="Segoe UI"/>
                <a:cs typeface="Segoe UI"/>
              </a:rPr>
              <a:t>Judge</a:t>
            </a:r>
          </a:p>
          <a:p xmlns:a="http://schemas.openxmlformats.org/drawingml/2006/main">
            <a:pPr>
              <a:defRPr sz="1800">
                <a:solidFill>
                  <a:srgbClr val="F2F8FA"/>
                </a:solidFill>
                <a:latin typeface="Segoe UI"/>
                <a:ea typeface="Segoe UI"/>
                <a:cs typeface="Segoe UI"/>
              </a:defRPr>
            </a:pPr>
            <a:r>
              <a:rPr sz="1800">
                <a:solidFill>
                  <a:srgbClr val="F2F8FA"/>
                </a:solidFill>
                <a:latin typeface="Segoe UI"/>
                <a:ea typeface="Segoe UI"/>
                <a:cs typeface="Segoe UI"/>
              </a:rPr>
              <a:t>Original evidence</a:t>
            </a:r>
            <a:br>
              <a:rPr sz="1800">
                <a:solidFill>
                  <a:srgbClr val="F2F8FA"/>
                </a:solidFill>
                <a:latin typeface="Segoe UI"/>
                <a:ea typeface="Segoe UI"/>
                <a:cs typeface="Segoe UI"/>
              </a:rPr>
            </a:br>
            <a:r>
              <a:rPr sz="1800">
                <a:solidFill>
                  <a:srgbClr val="F2F8FA"/>
                </a:solidFill>
                <a:latin typeface="Segoe UI"/>
                <a:ea typeface="Segoe UI"/>
                <a:cs typeface="Segoe UI"/>
              </a:rPr>
              <a:t>All four arguments</a:t>
            </a:r>
            <a:br>
              <a:rPr sz="1800">
                <a:solidFill>
                  <a:srgbClr val="F2F8FA"/>
                </a:solidFill>
                <a:latin typeface="Segoe UI"/>
                <a:ea typeface="Segoe UI"/>
                <a:cs typeface="Segoe UI"/>
              </a:rPr>
            </a:br>
            <a:r>
              <a:rPr sz="1800">
                <a:solidFill>
                  <a:srgbClr val="F2F8FA"/>
                </a:solidFill>
                <a:latin typeface="Segoe UI"/>
                <a:ea typeface="Segoe UI"/>
                <a:cs typeface="Segoe UI"/>
              </a:rPr>
              <a:t>Policy + calculations</a:t>
            </a:r>
          </a:p>
        </p:txBody>
      </p:sp>
      <p:sp>
        <p:nvSpPr>
          <p:cNvPr id="7" name="Decision checks">
            <a:extLst xmlns:a="http://schemas.openxmlformats.org/drawingml/2006/main">
              <a:ext uri="{FF2B5EF4-FFF2-40B4-BE49-F238E27FC236}">
                <a16:creationId xmlns:a16="http://schemas.microsoft.com/office/drawing/2014/main" id="{E49E7AF2-F9EA-4E8F-8FB0-7417B1B30ED5}"/>
              </a:ext>
            </a:extLst>
          </p:cNvPr>
          <p:cNvSpPr>
            <a:spLocks xmlns:a="http://schemas.openxmlformats.org/drawingml/2006/main" noGrp="1"/>
          </p:cNvSpPr>
          <p:nvPr/>
        </p:nvSpPr>
        <p:spPr>
          <a:xfrm xmlns:a="http://schemas.openxmlformats.org/drawingml/2006/main">
            <a:off x="12192000" y="2571750"/>
            <a:ext cx="2476500" cy="2095500"/>
          </a:xfrm>
          <a:prstGeom xmlns:a="http://schemas.openxmlformats.org/drawingml/2006/main" prst="rect">
            <a:avLst/>
          </a:prstGeom>
          <a:solidFill xmlns:a="http://schemas.openxmlformats.org/drawingml/2006/main">
            <a:srgbClr val="0F303E"/>
          </a:solidFill>
          <a:ln xmlns:a="http://schemas.openxmlformats.org/drawingml/2006/main" w="19050">
            <a:solidFill>
              <a:srgbClr val="72E3CF"/>
            </a:solidFill>
            <a:prstDash val="solid"/>
          </a:ln>
        </p:spPr>
        <p:txBody>
          <a:bodyPr xmlns:a="http://schemas.openxmlformats.org/drawingml/2006/main" wrap="square" lIns="190500" tIns="190500" rIns="171450" bIns="171450" anchor="t">
            <a:noAutofit/>
          </a:bodyPr>
          <a:lstStyle xmlns:a="http://schemas.openxmlformats.org/drawingml/2006/main">
            <a:defPPr>
              <a:defRPr sz="1800">
                <a:solidFill>
                  <a:srgbClr val="F2F8FA"/>
                </a:solidFill>
                <a:latin typeface="Segoe UI"/>
                <a:ea typeface="Segoe UI"/>
                <a:cs typeface="Segoe UI"/>
              </a:defRPr>
            </a:defPPr>
          </a:lstStyle>
          <a:p xmlns:a="http://schemas.openxmlformats.org/drawingml/2006/main">
            <a:pPr>
              <a:spcAft>
                <a:spcPts val="600"/>
              </a:spcAft>
              <a:defRPr sz="1800">
                <a:solidFill>
                  <a:srgbClr val="F2F8FA"/>
                </a:solidFill>
                <a:latin typeface="Segoe UI"/>
                <a:ea typeface="Segoe UI"/>
                <a:cs typeface="Segoe UI"/>
              </a:defRPr>
            </a:pPr>
            <a:r>
              <a:rPr sz="2100" b="1">
                <a:solidFill>
                  <a:srgbClr val="72E3CF"/>
                </a:solidFill>
                <a:latin typeface="Segoe UI"/>
                <a:ea typeface="Segoe UI"/>
                <a:cs typeface="Segoe UI"/>
              </a:rPr>
              <a:t>Decision checks</a:t>
            </a:r>
          </a:p>
          <a:p xmlns:a="http://schemas.openxmlformats.org/drawingml/2006/main">
            <a:pPr>
              <a:defRPr sz="1800">
                <a:solidFill>
                  <a:srgbClr val="F2F8FA"/>
                </a:solidFill>
                <a:latin typeface="Segoe UI"/>
                <a:ea typeface="Segoe UI"/>
                <a:cs typeface="Segoe UI"/>
              </a:defRPr>
            </a:pPr>
            <a:r>
              <a:rPr sz="1800">
                <a:solidFill>
                  <a:srgbClr val="F2F8FA"/>
                </a:solidFill>
                <a:latin typeface="Segoe UI"/>
                <a:ea typeface="Segoe UI"/>
                <a:cs typeface="Segoe UI"/>
              </a:rPr>
              <a:t>Schema + citations</a:t>
            </a:r>
            <a:br>
              <a:rPr sz="1800">
                <a:solidFill>
                  <a:srgbClr val="F2F8FA"/>
                </a:solidFill>
                <a:latin typeface="Segoe UI"/>
                <a:ea typeface="Segoe UI"/>
                <a:cs typeface="Segoe UI"/>
              </a:rPr>
            </a:br>
            <a:r>
              <a:rPr sz="1800">
                <a:solidFill>
                  <a:srgbClr val="F2F8FA"/>
                </a:solidFill>
                <a:latin typeface="Segoe UI"/>
                <a:ea typeface="Segoe UI"/>
                <a:cs typeface="Segoe UI"/>
              </a:rPr>
              <a:t>Reasoning checks</a:t>
            </a:r>
            <a:br>
              <a:rPr sz="1800">
                <a:solidFill>
                  <a:srgbClr val="F2F8FA"/>
                </a:solidFill>
                <a:latin typeface="Segoe UI"/>
                <a:ea typeface="Segoe UI"/>
                <a:cs typeface="Segoe UI"/>
              </a:rPr>
            </a:br>
            <a:r>
              <a:rPr sz="1800">
                <a:solidFill>
                  <a:srgbClr val="F2F8FA"/>
                </a:solidFill>
                <a:latin typeface="Segoe UI"/>
                <a:ea typeface="Segoe UI"/>
                <a:cs typeface="Segoe UI"/>
              </a:rPr>
              <a:t>Policy gates</a:t>
            </a:r>
          </a:p>
        </p:txBody>
      </p:sp>
      <p:sp>
        <p:nvSpPr>
          <p:cNvPr id="12" name="text-7">
            <a:extLst xmlns:a="http://schemas.openxmlformats.org/drawingml/2006/main">
              <a:ext uri="{FF2B5EF4-FFF2-40B4-BE49-F238E27FC236}">
                <a16:creationId xmlns:a16="http://schemas.microsoft.com/office/drawing/2014/main" id="{3B197988-CCCA-4A5A-9C10-93D68F6C8EE6}"/>
              </a:ext>
            </a:extLst>
          </p:cNvPr>
          <p:cNvSpPr>
            <a:spLocks xmlns:a="http://schemas.openxmlformats.org/drawingml/2006/main" noGrp="1"/>
          </p:cNvSpPr>
          <p:nvPr/>
        </p:nvSpPr>
        <p:spPr>
          <a:xfrm xmlns:a="http://schemas.openxmlformats.org/drawingml/2006/main">
            <a:off x="3505200" y="4810125"/>
            <a:ext cx="2457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72E3CF"/>
                </a:solidFill>
                <a:latin typeface="Segoe UI"/>
                <a:ea typeface="Segoe UI"/>
                <a:cs typeface="Segoe UI"/>
              </a:defRPr>
            </a:defPPr>
          </a:lstStyle>
          <a:p xmlns:a="http://schemas.openxmlformats.org/drawingml/2006/main">
            <a:pPr>
              <a:defRPr sz="1800" b="0">
                <a:solidFill>
                  <a:srgbClr val="72E3CF"/>
                </a:solidFill>
                <a:latin typeface="Segoe UI"/>
                <a:ea typeface="Segoe UI"/>
                <a:cs typeface="Segoe UI"/>
              </a:defRPr>
            </a:pPr>
            <a:r>
              <a:rPr sz="1800" b="0">
                <a:solidFill>
                  <a:srgbClr val="72E3CF"/>
                </a:solidFill>
                <a:latin typeface="Segoe UI"/>
                <a:ea typeface="Segoe UI"/>
                <a:cs typeface="Segoe UI"/>
              </a:rPr>
              <a:t>Validate both outputs</a:t>
            </a:r>
          </a:p>
        </p:txBody>
      </p:sp>
      <p:sp>
        <p:nvSpPr>
          <p:cNvPr id="13" name="text-8">
            <a:extLst xmlns:a="http://schemas.openxmlformats.org/drawingml/2006/main">
              <a:ext uri="{FF2B5EF4-FFF2-40B4-BE49-F238E27FC236}">
                <a16:creationId xmlns:a16="http://schemas.microsoft.com/office/drawing/2014/main" id="{0F115184-2F1B-4847-99AF-75DAFCD08096}"/>
              </a:ext>
            </a:extLst>
          </p:cNvPr>
          <p:cNvSpPr>
            <a:spLocks xmlns:a="http://schemas.openxmlformats.org/drawingml/2006/main" noGrp="1"/>
          </p:cNvSpPr>
          <p:nvPr/>
        </p:nvSpPr>
        <p:spPr>
          <a:xfrm xmlns:a="http://schemas.openxmlformats.org/drawingml/2006/main">
            <a:off x="6410325" y="4810125"/>
            <a:ext cx="2457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72E3CF"/>
                </a:solidFill>
                <a:latin typeface="Segoe UI"/>
                <a:ea typeface="Segoe UI"/>
                <a:cs typeface="Segoe UI"/>
              </a:defRPr>
            </a:defPPr>
          </a:lstStyle>
          <a:p xmlns:a="http://schemas.openxmlformats.org/drawingml/2006/main">
            <a:pPr>
              <a:defRPr sz="1800" b="0">
                <a:solidFill>
                  <a:srgbClr val="72E3CF"/>
                </a:solidFill>
                <a:latin typeface="Segoe UI"/>
                <a:ea typeface="Segoe UI"/>
                <a:cs typeface="Segoe UI"/>
              </a:defRPr>
            </a:pPr>
            <a:r>
              <a:rPr sz="1800" b="0">
                <a:solidFill>
                  <a:srgbClr val="72E3CF"/>
                </a:solidFill>
                <a:latin typeface="Segoe UI"/>
                <a:ea typeface="Segoe UI"/>
                <a:cs typeface="Segoe UI"/>
              </a:rPr>
              <a:t>Validate both outputs</a:t>
            </a:r>
          </a:p>
        </p:txBody>
      </p:sp>
      <p:sp>
        <p:nvSpPr>
          <p:cNvPr id="14" name="Safety referral">
            <a:extLst xmlns:a="http://schemas.openxmlformats.org/drawingml/2006/main">
              <a:ext uri="{FF2B5EF4-FFF2-40B4-BE49-F238E27FC236}">
                <a16:creationId xmlns:a16="http://schemas.microsoft.com/office/drawing/2014/main" id="{068C6751-F74C-4699-9A6D-985E4F6E37B6}"/>
              </a:ext>
            </a:extLst>
          </p:cNvPr>
          <p:cNvSpPr>
            <a:spLocks xmlns:a="http://schemas.openxmlformats.org/drawingml/2006/main" noGrp="1"/>
          </p:cNvSpPr>
          <p:nvPr/>
        </p:nvSpPr>
        <p:spPr>
          <a:xfrm xmlns:a="http://schemas.openxmlformats.org/drawingml/2006/main">
            <a:off x="571500" y="5619750"/>
            <a:ext cx="5715000" cy="1666875"/>
          </a:xfrm>
          <a:prstGeom xmlns:a="http://schemas.openxmlformats.org/drawingml/2006/main" prst="rect">
            <a:avLst/>
          </a:prstGeom>
          <a:solidFill xmlns:a="http://schemas.openxmlformats.org/drawingml/2006/main">
            <a:srgbClr val="0F303E"/>
          </a:solidFill>
          <a:ln xmlns:a="http://schemas.openxmlformats.org/drawingml/2006/main" w="19050">
            <a:solidFill>
              <a:srgbClr val="F3C777"/>
            </a:solidFill>
            <a:prstDash val="solid"/>
          </a:ln>
        </p:spPr>
        <p:txBody>
          <a:bodyPr xmlns:a="http://schemas.openxmlformats.org/drawingml/2006/main" wrap="square" lIns="190500" tIns="190500" rIns="171450" bIns="171450" anchor="t">
            <a:noAutofit/>
          </a:bodyPr>
          <a:lstStyle xmlns:a="http://schemas.openxmlformats.org/drawingml/2006/main">
            <a:defPPr>
              <a:defRPr sz="1800">
                <a:solidFill>
                  <a:srgbClr val="F2F8FA"/>
                </a:solidFill>
                <a:latin typeface="Segoe UI"/>
                <a:ea typeface="Segoe UI"/>
                <a:cs typeface="Segoe UI"/>
              </a:defRPr>
            </a:defPPr>
          </a:lstStyle>
          <a:p xmlns:a="http://schemas.openxmlformats.org/drawingml/2006/main">
            <a:pPr>
              <a:spcAft>
                <a:spcPts val="600"/>
              </a:spcAft>
              <a:defRPr sz="1800">
                <a:solidFill>
                  <a:srgbClr val="F2F8FA"/>
                </a:solidFill>
                <a:latin typeface="Segoe UI"/>
                <a:ea typeface="Segoe UI"/>
                <a:cs typeface="Segoe UI"/>
              </a:defRPr>
            </a:pPr>
            <a:r>
              <a:rPr sz="2100" b="1">
                <a:solidFill>
                  <a:srgbClr val="F3C777"/>
                </a:solidFill>
                <a:latin typeface="Segoe UI"/>
                <a:ea typeface="Segoe UI"/>
                <a:cs typeface="Segoe UI"/>
              </a:rPr>
              <a:t>Safety referral</a:t>
            </a:r>
          </a:p>
          <a:p xmlns:a="http://schemas.openxmlformats.org/drawingml/2006/main">
            <a:pPr>
              <a:defRPr sz="1800">
                <a:solidFill>
                  <a:srgbClr val="F2F8FA"/>
                </a:solidFill>
                <a:latin typeface="Segoe UI"/>
                <a:ea typeface="Segoe UI"/>
                <a:cs typeface="Segoe UI"/>
              </a:defRPr>
            </a:pPr>
            <a:r>
              <a:rPr sz="1875">
                <a:solidFill>
                  <a:srgbClr val="F2F8FA"/>
                </a:solidFill>
                <a:latin typeface="Segoe UI"/>
                <a:ea typeface="Segoe UI"/>
                <a:cs typeface="Segoe UI"/>
              </a:rPr>
              <a:t>Prepare evidence only; skip model calls and hand off to a human.</a:t>
            </a:r>
          </a:p>
        </p:txBody>
      </p:sp>
      <p:sp>
        <p:nvSpPr>
          <p:cNvPr id="16" name="Optional inference reviewer">
            <a:extLst xmlns:a="http://schemas.openxmlformats.org/drawingml/2006/main">
              <a:ext uri="{FF2B5EF4-FFF2-40B4-BE49-F238E27FC236}">
                <a16:creationId xmlns:a16="http://schemas.microsoft.com/office/drawing/2014/main" id="{0ACD22B9-FB0E-42C6-B0E1-11FF2CB957AD}"/>
              </a:ext>
            </a:extLst>
          </p:cNvPr>
          <p:cNvSpPr>
            <a:spLocks xmlns:a="http://schemas.openxmlformats.org/drawingml/2006/main" noGrp="1"/>
          </p:cNvSpPr>
          <p:nvPr/>
        </p:nvSpPr>
        <p:spPr>
          <a:xfrm xmlns:a="http://schemas.openxmlformats.org/drawingml/2006/main">
            <a:off x="9286875" y="5619750"/>
            <a:ext cx="5381625" cy="1666875"/>
          </a:xfrm>
          <a:prstGeom xmlns:a="http://schemas.openxmlformats.org/drawingml/2006/main" prst="rect">
            <a:avLst/>
          </a:prstGeom>
          <a:solidFill xmlns:a="http://schemas.openxmlformats.org/drawingml/2006/main">
            <a:srgbClr val="0F303E"/>
          </a:solidFill>
          <a:ln xmlns:a="http://schemas.openxmlformats.org/drawingml/2006/main" w="19050">
            <a:solidFill>
              <a:srgbClr val="72E3CF"/>
            </a:solidFill>
            <a:prstDash val="dash"/>
          </a:ln>
        </p:spPr>
        <p:txBody>
          <a:bodyPr xmlns:a="http://schemas.openxmlformats.org/drawingml/2006/main" wrap="square" lIns="190500" tIns="190500" rIns="171450" bIns="171450" anchor="t">
            <a:noAutofit/>
          </a:bodyPr>
          <a:lstStyle xmlns:a="http://schemas.openxmlformats.org/drawingml/2006/main">
            <a:defPPr>
              <a:defRPr sz="1800">
                <a:solidFill>
                  <a:srgbClr val="F2F8FA"/>
                </a:solidFill>
                <a:latin typeface="Segoe UI"/>
                <a:ea typeface="Segoe UI"/>
                <a:cs typeface="Segoe UI"/>
              </a:defRPr>
            </a:defPPr>
          </a:lstStyle>
          <a:p xmlns:a="http://schemas.openxmlformats.org/drawingml/2006/main">
            <a:pPr>
              <a:spcAft>
                <a:spcPts val="600"/>
              </a:spcAft>
              <a:defRPr sz="1800">
                <a:solidFill>
                  <a:srgbClr val="F2F8FA"/>
                </a:solidFill>
                <a:latin typeface="Segoe UI"/>
                <a:ea typeface="Segoe UI"/>
                <a:cs typeface="Segoe UI"/>
              </a:defRPr>
            </a:pPr>
            <a:r>
              <a:rPr sz="2100" b="1">
                <a:solidFill>
                  <a:srgbClr val="72E3CF"/>
                </a:solidFill>
                <a:latin typeface="Segoe UI"/>
                <a:ea typeface="Segoe UI"/>
                <a:cs typeface="Segoe UI"/>
              </a:rPr>
              <a:t>Optional inference reviewer</a:t>
            </a:r>
          </a:p>
          <a:p xmlns:a="http://schemas.openxmlformats.org/drawingml/2006/main">
            <a:pPr>
              <a:defRPr sz="1800">
                <a:solidFill>
                  <a:srgbClr val="F2F8FA"/>
                </a:solidFill>
                <a:latin typeface="Segoe UI"/>
                <a:ea typeface="Segoe UI"/>
                <a:cs typeface="Segoe UI"/>
              </a:defRPr>
            </a:pPr>
            <a:r>
              <a:rPr sz="1875">
                <a:solidFill>
                  <a:srgbClr val="F2F8FA"/>
                </a:solidFill>
                <a:latin typeface="Segoe UI"/>
                <a:ea typeface="Segoe UI"/>
                <a:cs typeface="Segoe UI"/>
              </a:rPr>
              <a:t>After a valid definitive proposal; may refer to a human, but cannot change the amount.</a:t>
            </a:r>
          </a:p>
        </p:txBody>
      </p:sp>
      <p:sp>
        <p:nvSpPr>
          <p:cNvPr id="18" name="text-9">
            <a:extLst xmlns:a="http://schemas.openxmlformats.org/drawingml/2006/main">
              <a:ext uri="{FF2B5EF4-FFF2-40B4-BE49-F238E27FC236}">
                <a16:creationId xmlns:a16="http://schemas.microsoft.com/office/drawing/2014/main" id="{30D6BEEB-C833-49E6-8F92-D8FC761735CF}"/>
              </a:ext>
            </a:extLst>
          </p:cNvPr>
          <p:cNvSpPr>
            <a:spLocks xmlns:a="http://schemas.openxmlformats.org/drawingml/2006/main" noGrp="1"/>
          </p:cNvSpPr>
          <p:nvPr/>
        </p:nvSpPr>
        <p:spPr>
          <a:xfrm xmlns:a="http://schemas.openxmlformats.org/drawingml/2006/main">
            <a:off x="571500" y="7762875"/>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ED1D8"/>
                </a:solidFill>
                <a:latin typeface="Segoe UI"/>
                <a:ea typeface="Segoe UI"/>
                <a:cs typeface="Segoe UI"/>
              </a:defRPr>
            </a:defPPr>
          </a:lstStyle>
          <a:p xmlns:a="http://schemas.openxmlformats.org/drawingml/2006/main">
            <a:pPr>
              <a:defRPr sz="1875" b="0">
                <a:solidFill>
                  <a:srgbClr val="BED1D8"/>
                </a:solidFill>
                <a:latin typeface="Segoe UI"/>
                <a:ea typeface="Segoe UI"/>
                <a:cs typeface="Segoe UI"/>
              </a:defRPr>
            </a:pPr>
            <a:r>
              <a:rPr sz="1875" b="0">
                <a:solidFill>
                  <a:srgbClr val="BED1D8"/>
                </a:solidFill>
                <a:latin typeface="Segoe UI"/>
                <a:ea typeface="Segoe UI"/>
                <a:cs typeface="Segoe UI"/>
              </a:rPr>
              <a:t>Each pair can run concurrently when enabled. Shared issue guidance and the reviewer are opt-in.</a:t>
            </a:r>
          </a:p>
        </p:txBody>
      </p:sp>
    </p:spTree>
    <p:extLst>
      <p:ext uri="{BB962C8B-B14F-4D97-AF65-F5344CB8AC3E}">
        <p14:creationId xmlns:p14="http://schemas.microsoft.com/office/powerpoint/2010/main" val="1450339869"/>
      </p:ext>
    </p:extLst>
  </p:cSld>
</p:sld>
</file>

<file path=ppt/slides/slide3.xml><?xml version="1.0" encoding="utf-8"?>
<p:sld xmlns:p="http://schemas.openxmlformats.org/presentationml/2006/main">
  <p:cSld>
    <p:bg>
      <p:bgPr>
        <a:solidFill xmlns:a="http://schemas.openxmlformats.org/drawingml/2006/main">
          <a:srgbClr val="071D29"/>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AE3FC965-7D16-4844-9D81-0DD585FFFA88}"/>
              </a:ext>
            </a:extLst>
          </p:cNvPr>
          <p:cNvCxnSpPr>
            <a:stCxn xmlns:a="http://schemas.openxmlformats.org/drawingml/2006/main" id="5" idx="2"/>
            <a:endCxn xmlns:a="http://schemas.openxmlformats.org/drawingml/2006/main" id="10" idx="0"/>
          </p:cNvCxnSpPr>
          <p:nvPr/>
        </p:nvCxnSpPr>
        <p:spPr>
          <a:xfrm xmlns:a="http://schemas.openxmlformats.org/drawingml/2006/main">
            <a:off x="11287125" y="4714875"/>
            <a:ext cx="0" cy="1000125"/>
          </a:xfrm>
          <a:prstGeom xmlns:a="http://schemas.openxmlformats.org/drawingml/2006/main" prst="straightConnector1">
            <a:avLst/>
          </a:prstGeom>
          <a:ln xmlns:a="http://schemas.openxmlformats.org/drawingml/2006/main" w="28575">
            <a:solidFill>
              <a:srgbClr val="72E3CF"/>
            </a:solidFill>
            <a:prstDash val="solid"/>
            <a:tailEnd type="triangle" w="med" len="med"/>
          </a:ln>
        </p:spPr>
      </p:cxnSp>
      <p:cxnSp>
        <p:nvCxnSpPr>
          <p:cNvPr id="7" name="">
            <a:extLst xmlns:a="http://schemas.openxmlformats.org/drawingml/2006/main">
              <a:ext uri="{FF2B5EF4-FFF2-40B4-BE49-F238E27FC236}">
                <a16:creationId xmlns:a16="http://schemas.microsoft.com/office/drawing/2014/main" id="{EFAD2077-0174-42E1-9726-84F93DE7CCDB}"/>
              </a:ext>
            </a:extLst>
          </p:cNvPr>
          <p:cNvCxnSpPr>
            <a:stCxn xmlns:a="http://schemas.openxmlformats.org/drawingml/2006/main" id="4" idx="3"/>
            <a:endCxn xmlns:a="http://schemas.openxmlformats.org/drawingml/2006/main" id="5" idx="1"/>
          </p:cNvCxnSpPr>
          <p:nvPr/>
        </p:nvCxnSpPr>
        <p:spPr>
          <a:xfrm xmlns:a="http://schemas.openxmlformats.org/drawingml/2006/main">
            <a:off x="7096125" y="3595688"/>
            <a:ext cx="809625" cy="0"/>
          </a:xfrm>
          <a:prstGeom xmlns:a="http://schemas.openxmlformats.org/drawingml/2006/main" prst="straightConnector1">
            <a:avLst/>
          </a:prstGeom>
          <a:ln xmlns:a="http://schemas.openxmlformats.org/drawingml/2006/main" w="28575">
            <a:solidFill>
              <a:srgbClr val="72E3CF"/>
            </a:solidFill>
            <a:prstDash val="solid"/>
            <a:tailEnd type="triangle" w="med" len="med"/>
          </a:ln>
        </p:spPr>
      </p:cxnSp>
      <p:cxnSp>
        <p:nvCxnSpPr>
          <p:cNvPr id="6" name="">
            <a:extLst xmlns:a="http://schemas.openxmlformats.org/drawingml/2006/main">
              <a:ext uri="{FF2B5EF4-FFF2-40B4-BE49-F238E27FC236}">
                <a16:creationId xmlns:a16="http://schemas.microsoft.com/office/drawing/2014/main" id="{C1A61ED9-9035-4AFA-AABB-64154016BA9A}"/>
              </a:ext>
            </a:extLst>
          </p:cNvPr>
          <p:cNvCxnSpPr>
            <a:stCxn xmlns:a="http://schemas.openxmlformats.org/drawingml/2006/main" id="3" idx="3"/>
            <a:endCxn xmlns:a="http://schemas.openxmlformats.org/drawingml/2006/main" id="4" idx="1"/>
          </p:cNvCxnSpPr>
          <p:nvPr/>
        </p:nvCxnSpPr>
        <p:spPr>
          <a:xfrm xmlns:a="http://schemas.openxmlformats.org/drawingml/2006/main">
            <a:off x="3429000" y="3595688"/>
            <a:ext cx="809625" cy="0"/>
          </a:xfrm>
          <a:prstGeom xmlns:a="http://schemas.openxmlformats.org/drawingml/2006/main" prst="straightConnector1">
            <a:avLst/>
          </a:prstGeom>
          <a:ln xmlns:a="http://schemas.openxmlformats.org/drawingml/2006/main" w="28575">
            <a:solidFill>
              <a:srgbClr val="72E3CF"/>
            </a:solidFill>
            <a:prstDash val="solid"/>
            <a:tailEnd type="triangle" w="med" len="med"/>
          </a:ln>
        </p:spPr>
      </p:cxnSp>
      <p:sp>
        <p:nvSpPr>
          <p:cNvPr id="13" name="text-10">
            <a:extLst xmlns:a="http://schemas.openxmlformats.org/drawingml/2006/main">
              <a:ext uri="{FF2B5EF4-FFF2-40B4-BE49-F238E27FC236}">
                <a16:creationId xmlns:a16="http://schemas.microsoft.com/office/drawing/2014/main" id="{F3F1767C-A978-4635-8A02-C2995A871430}"/>
              </a:ext>
            </a:extLst>
          </p:cNvPr>
          <p:cNvSpPr>
            <a:spLocks xmlns:a="http://schemas.openxmlformats.org/drawingml/2006/main" noGrp="1"/>
          </p:cNvSpPr>
          <p:nvPr/>
        </p:nvSpPr>
        <p:spPr>
          <a:xfrm xmlns:a="http://schemas.openxmlformats.org/drawingml/2006/main">
            <a:off x="571500" y="45720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00" b="1">
                <a:solidFill>
                  <a:srgbClr val="F2F8FA"/>
                </a:solidFill>
                <a:latin typeface="Segoe UI"/>
                <a:ea typeface="Segoe UI"/>
                <a:cs typeface="Segoe UI"/>
              </a:defRPr>
            </a:defPPr>
          </a:lstStyle>
          <a:p xmlns:a="http://schemas.openxmlformats.org/drawingml/2006/main">
            <a:pPr>
              <a:defRPr sz="4200" b="1">
                <a:solidFill>
                  <a:srgbClr val="F2F8FA"/>
                </a:solidFill>
                <a:latin typeface="Segoe UI"/>
                <a:ea typeface="Segoe UI"/>
                <a:cs typeface="Segoe UI"/>
              </a:defRPr>
            </a:pPr>
            <a:r>
              <a:rPr sz="4200" b="1">
                <a:solidFill>
                  <a:srgbClr val="F2F8FA"/>
                </a:solidFill>
                <a:latin typeface="Segoe UI"/>
                <a:ea typeface="Segoe UI"/>
                <a:cs typeface="Segoe UI"/>
              </a:rPr>
              <a:t>Evidence and policy provenance</a:t>
            </a:r>
          </a:p>
        </p:txBody>
      </p:sp>
      <p:sp>
        <p:nvSpPr>
          <p:cNvPr id="2" name="text-11">
            <a:extLst xmlns:a="http://schemas.openxmlformats.org/drawingml/2006/main">
              <a:ext uri="{FF2B5EF4-FFF2-40B4-BE49-F238E27FC236}">
                <a16:creationId xmlns:a16="http://schemas.microsoft.com/office/drawing/2014/main" id="{BE79BDA9-7007-464D-8911-37D5A0053236}"/>
              </a:ext>
            </a:extLst>
          </p:cNvPr>
          <p:cNvSpPr>
            <a:spLocks xmlns:a="http://schemas.openxmlformats.org/drawingml/2006/main" noGrp="1"/>
          </p:cNvSpPr>
          <p:nvPr/>
        </p:nvSpPr>
        <p:spPr>
          <a:xfrm xmlns:a="http://schemas.openxmlformats.org/drawingml/2006/main">
            <a:off x="600075" y="1323975"/>
            <a:ext cx="1400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BED1D8"/>
                </a:solidFill>
                <a:latin typeface="Segoe UI"/>
                <a:ea typeface="Segoe UI"/>
                <a:cs typeface="Segoe UI"/>
              </a:defRPr>
            </a:defPPr>
          </a:lstStyle>
          <a:p xmlns:a="http://schemas.openxmlformats.org/drawingml/2006/main">
            <a:pPr>
              <a:defRPr sz="2100" b="0">
                <a:solidFill>
                  <a:srgbClr val="BED1D8"/>
                </a:solidFill>
                <a:latin typeface="Segoe UI"/>
                <a:ea typeface="Segoe UI"/>
                <a:cs typeface="Segoe UI"/>
              </a:defRPr>
            </a:pPr>
            <a:r>
              <a:rPr sz="2100" b="0">
                <a:solidFill>
                  <a:srgbClr val="BED1D8"/>
                </a:solidFill>
                <a:latin typeface="Segoe UI"/>
                <a:ea typeface="Segoe UI"/>
                <a:cs typeface="Segoe UI"/>
              </a:rPr>
              <a:t>Every reference is scoped to its case and captured snapshot</a:t>
            </a:r>
          </a:p>
        </p:txBody>
      </p:sp>
      <p:sp>
        <p:nvSpPr>
          <p:cNvPr id="3" name="Original attachments">
            <a:extLst xmlns:a="http://schemas.openxmlformats.org/drawingml/2006/main">
              <a:ext uri="{FF2B5EF4-FFF2-40B4-BE49-F238E27FC236}">
                <a16:creationId xmlns:a16="http://schemas.microsoft.com/office/drawing/2014/main" id="{92FF2122-47A5-44B8-80B7-ED9B37C897E0}"/>
              </a:ext>
            </a:extLst>
          </p:cNvPr>
          <p:cNvSpPr>
            <a:spLocks xmlns:a="http://schemas.openxmlformats.org/drawingml/2006/main" noGrp="1"/>
          </p:cNvSpPr>
          <p:nvPr/>
        </p:nvSpPr>
        <p:spPr>
          <a:xfrm xmlns:a="http://schemas.openxmlformats.org/drawingml/2006/main">
            <a:off x="571500" y="2476500"/>
            <a:ext cx="2857500" cy="2238375"/>
          </a:xfrm>
          <a:prstGeom xmlns:a="http://schemas.openxmlformats.org/drawingml/2006/main" prst="rect">
            <a:avLst/>
          </a:prstGeom>
          <a:solidFill xmlns:a="http://schemas.openxmlformats.org/drawingml/2006/main">
            <a:srgbClr val="0F303E"/>
          </a:solidFill>
          <a:ln xmlns:a="http://schemas.openxmlformats.org/drawingml/2006/main" w="19050">
            <a:solidFill>
              <a:srgbClr val="72E3CF"/>
            </a:solidFill>
            <a:prstDash val="solid"/>
          </a:ln>
        </p:spPr>
        <p:txBody>
          <a:bodyPr xmlns:a="http://schemas.openxmlformats.org/drawingml/2006/main" wrap="square" lIns="190500" tIns="190500" rIns="171450" bIns="171450" anchor="t">
            <a:noAutofit/>
          </a:bodyPr>
          <a:lstStyle xmlns:a="http://schemas.openxmlformats.org/drawingml/2006/main">
            <a:defPPr>
              <a:defRPr sz="1800">
                <a:solidFill>
                  <a:srgbClr val="F2F8FA"/>
                </a:solidFill>
                <a:latin typeface="Segoe UI"/>
                <a:ea typeface="Segoe UI"/>
                <a:cs typeface="Segoe UI"/>
              </a:defRPr>
            </a:defPPr>
          </a:lstStyle>
          <a:p xmlns:a="http://schemas.openxmlformats.org/drawingml/2006/main">
            <a:pPr>
              <a:spcAft>
                <a:spcPts val="600"/>
              </a:spcAft>
              <a:defRPr sz="1800">
                <a:solidFill>
                  <a:srgbClr val="F2F8FA"/>
                </a:solidFill>
                <a:latin typeface="Segoe UI"/>
                <a:ea typeface="Segoe UI"/>
                <a:cs typeface="Segoe UI"/>
              </a:defRPr>
            </a:pPr>
            <a:r>
              <a:rPr sz="2100" b="1">
                <a:solidFill>
                  <a:srgbClr val="72E3CF"/>
                </a:solidFill>
                <a:latin typeface="Segoe UI"/>
                <a:ea typeface="Segoe UI"/>
                <a:cs typeface="Segoe UI"/>
              </a:rPr>
              <a:t>Original attachments</a:t>
            </a:r>
          </a:p>
          <a:p xmlns:a="http://schemas.openxmlformats.org/drawingml/2006/main">
            <a:pPr>
              <a:defRPr sz="1800">
                <a:solidFill>
                  <a:srgbClr val="F2F8FA"/>
                </a:solidFill>
                <a:latin typeface="Segoe UI"/>
                <a:ea typeface="Segoe UI"/>
                <a:cs typeface="Segoe UI"/>
              </a:defRPr>
            </a:pPr>
            <a:r>
              <a:rPr sz="1800">
                <a:solidFill>
                  <a:srgbClr val="F2F8FA"/>
                </a:solidFill>
                <a:latin typeface="Segoe UI"/>
                <a:ea typeface="Segoe UI"/>
                <a:cs typeface="Segoe UI"/>
              </a:rPr>
              <a:t>Organizer samples</a:t>
            </a:r>
            <a:br>
              <a:rPr sz="1800">
                <a:solidFill>
                  <a:srgbClr val="F2F8FA"/>
                </a:solidFill>
                <a:latin typeface="Segoe UI"/>
                <a:ea typeface="Segoe UI"/>
                <a:cs typeface="Segoe UI"/>
              </a:rPr>
            </a:br>
            <a:r>
              <a:rPr sz="1800">
                <a:solidFill>
                  <a:srgbClr val="F2F8FA"/>
                </a:solidFill>
                <a:latin typeface="Segoe UI"/>
                <a:ea typeface="Segoe UI"/>
                <a:cs typeface="Segoe UI"/>
              </a:rPr>
              <a:t>Three dispute records</a:t>
            </a:r>
            <a:br>
              <a:rPr sz="1800">
                <a:solidFill>
                  <a:srgbClr val="F2F8FA"/>
                </a:solidFill>
                <a:latin typeface="Segoe UI"/>
                <a:ea typeface="Segoe UI"/>
                <a:cs typeface="Segoe UI"/>
              </a:rPr>
            </a:br>
            <a:r>
              <a:rPr sz="1800">
                <a:solidFill>
                  <a:srgbClr val="F2F8FA"/>
                </a:solidFill>
                <a:latin typeface="Segoe UI"/>
                <a:ea typeface="Segoe UI"/>
                <a:cs typeface="Segoe UI"/>
              </a:rPr>
              <a:t>Separate Policy v2.1</a:t>
            </a:r>
          </a:p>
        </p:txBody>
      </p:sp>
      <p:sp>
        <p:nvSpPr>
          <p:cNvPr id="4" name="Runtime projection">
            <a:extLst xmlns:a="http://schemas.openxmlformats.org/drawingml/2006/main">
              <a:ext uri="{FF2B5EF4-FFF2-40B4-BE49-F238E27FC236}">
                <a16:creationId xmlns:a16="http://schemas.microsoft.com/office/drawing/2014/main" id="{B121B662-AE2A-4EFE-B1A2-29CEB5FB538D}"/>
              </a:ext>
            </a:extLst>
          </p:cNvPr>
          <p:cNvSpPr>
            <a:spLocks xmlns:a="http://schemas.openxmlformats.org/drawingml/2006/main" noGrp="1"/>
          </p:cNvSpPr>
          <p:nvPr/>
        </p:nvSpPr>
        <p:spPr>
          <a:xfrm xmlns:a="http://schemas.openxmlformats.org/drawingml/2006/main">
            <a:off x="4238625" y="2476500"/>
            <a:ext cx="2857500" cy="2238375"/>
          </a:xfrm>
          <a:prstGeom xmlns:a="http://schemas.openxmlformats.org/drawingml/2006/main" prst="rect">
            <a:avLst/>
          </a:prstGeom>
          <a:solidFill xmlns:a="http://schemas.openxmlformats.org/drawingml/2006/main">
            <a:srgbClr val="0F303E"/>
          </a:solidFill>
          <a:ln xmlns:a="http://schemas.openxmlformats.org/drawingml/2006/main" w="19050">
            <a:solidFill>
              <a:srgbClr val="72E3CF"/>
            </a:solidFill>
            <a:prstDash val="solid"/>
          </a:ln>
        </p:spPr>
        <p:txBody>
          <a:bodyPr xmlns:a="http://schemas.openxmlformats.org/drawingml/2006/main" wrap="square" lIns="190500" tIns="190500" rIns="171450" bIns="171450" anchor="t">
            <a:noAutofit/>
          </a:bodyPr>
          <a:lstStyle xmlns:a="http://schemas.openxmlformats.org/drawingml/2006/main">
            <a:defPPr>
              <a:defRPr sz="1800">
                <a:solidFill>
                  <a:srgbClr val="F2F8FA"/>
                </a:solidFill>
                <a:latin typeface="Segoe UI"/>
                <a:ea typeface="Segoe UI"/>
                <a:cs typeface="Segoe UI"/>
              </a:defRPr>
            </a:defPPr>
          </a:lstStyle>
          <a:p xmlns:a="http://schemas.openxmlformats.org/drawingml/2006/main">
            <a:pPr>
              <a:spcAft>
                <a:spcPts val="600"/>
              </a:spcAft>
              <a:defRPr sz="1800">
                <a:solidFill>
                  <a:srgbClr val="F2F8FA"/>
                </a:solidFill>
                <a:latin typeface="Segoe UI"/>
                <a:ea typeface="Segoe UI"/>
                <a:cs typeface="Segoe UI"/>
              </a:defRPr>
            </a:pPr>
            <a:r>
              <a:rPr sz="2100" b="1">
                <a:solidFill>
                  <a:srgbClr val="72E3CF"/>
                </a:solidFill>
                <a:latin typeface="Segoe UI"/>
                <a:ea typeface="Segoe UI"/>
                <a:cs typeface="Segoe UI"/>
              </a:rPr>
              <a:t>Runtime projection</a:t>
            </a:r>
          </a:p>
          <a:p xmlns:a="http://schemas.openxmlformats.org/drawingml/2006/main">
            <a:pPr>
              <a:defRPr sz="1800">
                <a:solidFill>
                  <a:srgbClr val="F2F8FA"/>
                </a:solidFill>
                <a:latin typeface="Segoe UI"/>
                <a:ea typeface="Segoe UI"/>
                <a:cs typeface="Segoe UI"/>
              </a:defRPr>
            </a:pPr>
            <a:r>
              <a:rPr sz="1800">
                <a:solidFill>
                  <a:srgbClr val="F2F8FA"/>
                </a:solidFill>
                <a:latin typeface="Segoe UI"/>
                <a:ea typeface="Segoe UI"/>
                <a:cs typeface="Segoe UI"/>
              </a:rPr>
              <a:t>Exclude answer fields</a:t>
            </a:r>
            <a:br>
              <a:rPr sz="1800">
                <a:solidFill>
                  <a:srgbClr val="F2F8FA"/>
                </a:solidFill>
                <a:latin typeface="Segoe UI"/>
                <a:ea typeface="Segoe UI"/>
                <a:cs typeface="Segoe UI"/>
              </a:rPr>
            </a:br>
            <a:r>
              <a:rPr sz="1800">
                <a:solidFill>
                  <a:srgbClr val="F2F8FA"/>
                </a:solidFill>
                <a:latin typeface="Segoe UI"/>
                <a:ea typeface="Segoe UI"/>
                <a:cs typeface="Segoe UI"/>
              </a:rPr>
              <a:t>Preserve record values</a:t>
            </a:r>
            <a:br>
              <a:rPr sz="1800">
                <a:solidFill>
                  <a:srgbClr val="F2F8FA"/>
                </a:solidFill>
                <a:latin typeface="Segoe UI"/>
                <a:ea typeface="Segoe UI"/>
                <a:cs typeface="Segoe UI"/>
              </a:rPr>
            </a:br>
            <a:r>
              <a:rPr sz="1800">
                <a:solidFill>
                  <a:srgbClr val="F2F8FA"/>
                </a:solidFill>
                <a:latin typeface="Segoe UI"/>
                <a:ea typeface="Segoe UI"/>
                <a:cs typeface="Segoe UI"/>
              </a:rPr>
              <a:t>Pin the policy hash</a:t>
            </a:r>
            <a:br>
              <a:rPr sz="1800">
                <a:solidFill>
                  <a:srgbClr val="F2F8FA"/>
                </a:solidFill>
                <a:latin typeface="Segoe UI"/>
                <a:ea typeface="Segoe UI"/>
                <a:cs typeface="Segoe UI"/>
              </a:rPr>
            </a:br>
            <a:r>
              <a:rPr sz="1800">
                <a:solidFill>
                  <a:srgbClr val="F2F8FA"/>
                </a:solidFill>
                <a:latin typeface="Segoe UI"/>
                <a:ea typeface="Segoe UI"/>
                <a:cs typeface="Segoe UI"/>
              </a:rPr>
              <a:t>Normalize + audit</a:t>
            </a:r>
          </a:p>
        </p:txBody>
      </p:sp>
      <p:sp>
        <p:nvSpPr>
          <p:cNvPr id="5" name="Versioned snapshot">
            <a:extLst xmlns:a="http://schemas.openxmlformats.org/drawingml/2006/main">
              <a:ext uri="{FF2B5EF4-FFF2-40B4-BE49-F238E27FC236}">
                <a16:creationId xmlns:a16="http://schemas.microsoft.com/office/drawing/2014/main" id="{DE29E0AA-C8DF-4199-9E66-6240AC779A18}"/>
              </a:ext>
            </a:extLst>
          </p:cNvPr>
          <p:cNvSpPr>
            <a:spLocks xmlns:a="http://schemas.openxmlformats.org/drawingml/2006/main" noGrp="1"/>
          </p:cNvSpPr>
          <p:nvPr/>
        </p:nvSpPr>
        <p:spPr>
          <a:xfrm xmlns:a="http://schemas.openxmlformats.org/drawingml/2006/main">
            <a:off x="7905750" y="2476500"/>
            <a:ext cx="6762750" cy="2238375"/>
          </a:xfrm>
          <a:prstGeom xmlns:a="http://schemas.openxmlformats.org/drawingml/2006/main" prst="rect">
            <a:avLst/>
          </a:prstGeom>
          <a:solidFill xmlns:a="http://schemas.openxmlformats.org/drawingml/2006/main">
            <a:srgbClr val="0F303E"/>
          </a:solidFill>
          <a:ln xmlns:a="http://schemas.openxmlformats.org/drawingml/2006/main" w="19050">
            <a:solidFill>
              <a:srgbClr val="72E3CF"/>
            </a:solidFill>
            <a:prstDash val="solid"/>
          </a:ln>
        </p:spPr>
        <p:txBody>
          <a:bodyPr xmlns:a="http://schemas.openxmlformats.org/drawingml/2006/main" wrap="square" lIns="190500" tIns="190500" rIns="171450" bIns="171450" anchor="t">
            <a:noAutofit/>
          </a:bodyPr>
          <a:lstStyle xmlns:a="http://schemas.openxmlformats.org/drawingml/2006/main">
            <a:defPPr>
              <a:defRPr sz="1800">
                <a:solidFill>
                  <a:srgbClr val="F2F8FA"/>
                </a:solidFill>
                <a:latin typeface="Segoe UI"/>
                <a:ea typeface="Segoe UI"/>
                <a:cs typeface="Segoe UI"/>
              </a:defRPr>
            </a:defPPr>
          </a:lstStyle>
          <a:p xmlns:a="http://schemas.openxmlformats.org/drawingml/2006/main">
            <a:pPr>
              <a:spcAft>
                <a:spcPts val="600"/>
              </a:spcAft>
              <a:defRPr sz="1800">
                <a:solidFill>
                  <a:srgbClr val="F2F8FA"/>
                </a:solidFill>
                <a:latin typeface="Segoe UI"/>
                <a:ea typeface="Segoe UI"/>
                <a:cs typeface="Segoe UI"/>
              </a:defRPr>
            </a:pPr>
            <a:r>
              <a:rPr sz="2400" b="1">
                <a:solidFill>
                  <a:srgbClr val="72E3CF"/>
                </a:solidFill>
                <a:latin typeface="Segoe UI"/>
                <a:ea typeface="Segoe UI"/>
                <a:cs typeface="Segoe UI"/>
              </a:rPr>
              <a:t>Versioned snapshot</a:t>
            </a:r>
          </a:p>
          <a:p xmlns:a="http://schemas.openxmlformats.org/drawingml/2006/main">
            <a:pPr>
              <a:defRPr sz="1800">
                <a:solidFill>
                  <a:srgbClr val="F2F8FA"/>
                </a:solidFill>
                <a:latin typeface="Segoe UI"/>
                <a:ea typeface="Segoe UI"/>
                <a:cs typeface="Segoe UI"/>
              </a:defRPr>
            </a:pPr>
            <a:r>
              <a:rPr sz="2025">
                <a:solidFill>
                  <a:srgbClr val="F2F8FA"/>
                </a:solidFill>
                <a:latin typeface="Segoe UI"/>
                <a:ea typeface="Segoe UI"/>
                <a:cs typeface="Segoe UI"/>
              </a:rPr>
              <a:t>Facts: evidence_id · fact · source</a:t>
            </a:r>
            <a:br>
              <a:rPr sz="2025">
                <a:solidFill>
                  <a:srgbClr val="F2F8FA"/>
                </a:solidFill>
                <a:latin typeface="Segoe UI"/>
                <a:ea typeface="Segoe UI"/>
                <a:cs typeface="Segoe UI"/>
              </a:rPr>
            </a:br>
            <a:r>
              <a:rPr sz="2025">
                <a:solidFill>
                  <a:srgbClr val="F2F8FA"/>
                </a:solidFill>
                <a:latin typeface="Segoe UI"/>
                <a:ea typeface="Segoe UI"/>
                <a:cs typeface="Segoe UI"/>
              </a:rPr>
              <a:t>Policy: policy_id · rule · source</a:t>
            </a:r>
            <a:br>
              <a:rPr sz="2025">
                <a:solidFill>
                  <a:srgbClr val="F2F8FA"/>
                </a:solidFill>
                <a:latin typeface="Segoe UI"/>
                <a:ea typeface="Segoe UI"/>
                <a:cs typeface="Segoe UI"/>
              </a:rPr>
            </a:br>
            <a:r>
              <a:rPr sz="2025">
                <a:solidFill>
                  <a:srgbClr val="F2F8FA"/>
                </a:solidFill>
                <a:latin typeface="Segoe UI"/>
                <a:ea typeface="Segoe UI"/>
                <a:cs typeface="Segoe UI"/>
              </a:rPr>
              <a:t>Identity: case_id + snapshot_id</a:t>
            </a:r>
            <a:br>
              <a:rPr sz="2025">
                <a:solidFill>
                  <a:srgbClr val="F2F8FA"/>
                </a:solidFill>
                <a:latin typeface="Segoe UI"/>
                <a:ea typeface="Segoe UI"/>
                <a:cs typeface="Segoe UI"/>
              </a:rPr>
            </a:br>
            <a:r>
              <a:rPr sz="2025">
                <a:solidFill>
                  <a:srgbClr val="F2F8FA"/>
                </a:solidFill>
                <a:latin typeface="Segoe UI"/>
                <a:ea typeface="Segoe UI"/>
                <a:cs typeface="Segoe UI"/>
              </a:rPr>
              <a:t>Raw records, source index and audit</a:t>
            </a:r>
          </a:p>
        </p:txBody>
      </p:sp>
      <p:sp>
        <p:nvSpPr>
          <p:cNvPr id="8" name="text-12">
            <a:extLst xmlns:a="http://schemas.openxmlformats.org/drawingml/2006/main">
              <a:ext uri="{FF2B5EF4-FFF2-40B4-BE49-F238E27FC236}">
                <a16:creationId xmlns:a16="http://schemas.microsoft.com/office/drawing/2014/main" id="{286225E3-397D-4FA7-B838-D0687C86B605}"/>
              </a:ext>
            </a:extLst>
          </p:cNvPr>
          <p:cNvSpPr>
            <a:spLocks xmlns:a="http://schemas.openxmlformats.org/drawingml/2006/main" noGrp="1"/>
          </p:cNvSpPr>
          <p:nvPr/>
        </p:nvSpPr>
        <p:spPr>
          <a:xfrm xmlns:a="http://schemas.openxmlformats.org/drawingml/2006/main">
            <a:off x="571500" y="5667375"/>
            <a:ext cx="6238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F3C777"/>
                </a:solidFill>
                <a:latin typeface="Segoe UI"/>
                <a:ea typeface="Segoe UI"/>
                <a:cs typeface="Segoe UI"/>
              </a:defRPr>
            </a:defPPr>
          </a:lstStyle>
          <a:p xmlns:a="http://schemas.openxmlformats.org/drawingml/2006/main">
            <a:pPr>
              <a:defRPr sz="2250" b="1">
                <a:solidFill>
                  <a:srgbClr val="F3C777"/>
                </a:solidFill>
                <a:latin typeface="Segoe UI"/>
                <a:ea typeface="Segoe UI"/>
                <a:cs typeface="Segoe UI"/>
              </a:defRPr>
            </a:pPr>
            <a:r>
              <a:rPr sz="2250" b="1">
                <a:solidFill>
                  <a:srgbClr val="F3C777"/>
                </a:solidFill>
                <a:latin typeface="Segoe UI"/>
                <a:ea typeface="Segoe UI"/>
                <a:cs typeface="Segoe UI"/>
              </a:rPr>
              <a:t>Outside Agent inputs</a:t>
            </a:r>
          </a:p>
        </p:txBody>
      </p:sp>
      <p:sp>
        <p:nvSpPr>
          <p:cNvPr id="9" name="text-13">
            <a:extLst xmlns:a="http://schemas.openxmlformats.org/drawingml/2006/main">
              <a:ext uri="{FF2B5EF4-FFF2-40B4-BE49-F238E27FC236}">
                <a16:creationId xmlns:a16="http://schemas.microsoft.com/office/drawing/2014/main" id="{81D8F09B-CD26-4E5B-A5D6-7B2C47E9B93B}"/>
              </a:ext>
            </a:extLst>
          </p:cNvPr>
          <p:cNvSpPr>
            <a:spLocks xmlns:a="http://schemas.openxmlformats.org/drawingml/2006/main" noGrp="1"/>
          </p:cNvSpPr>
          <p:nvPr/>
        </p:nvSpPr>
        <p:spPr>
          <a:xfrm xmlns:a="http://schemas.openxmlformats.org/drawingml/2006/main">
            <a:off x="571500" y="6210300"/>
            <a:ext cx="6381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2F8FA"/>
                </a:solidFill>
                <a:latin typeface="Segoe UI"/>
                <a:ea typeface="Segoe UI"/>
                <a:cs typeface="Segoe UI"/>
              </a:defRPr>
            </a:defPPr>
          </a:lstStyle>
          <a:p xmlns:a="http://schemas.openxmlformats.org/drawingml/2006/main">
            <a:pPr>
              <a:defRPr sz="2025" b="0">
                <a:solidFill>
                  <a:srgbClr val="F2F8FA"/>
                </a:solidFill>
                <a:latin typeface="Segoe UI"/>
                <a:ea typeface="Segoe UI"/>
                <a:cs typeface="Segoe UI"/>
              </a:defRPr>
            </a:pPr>
            <a:r>
              <a:rPr sz="2025" b="0">
                <a:solidFill>
                  <a:srgbClr val="F2F8FA"/>
                </a:solidFill>
                <a:latin typeface="Segoe UI"/>
                <a:ea typeface="Segoe UI"/>
                <a:cs typeface="Segoe UI"/>
              </a:rPr>
              <a:t>Recommended rulings and editorial answers</a:t>
            </a:r>
          </a:p>
          <a:p xmlns:a="http://schemas.openxmlformats.org/drawingml/2006/main">
            <a:pPr>
              <a:defRPr sz="2025" b="0">
                <a:solidFill>
                  <a:srgbClr val="F2F8FA"/>
                </a:solidFill>
                <a:latin typeface="Segoe UI"/>
                <a:ea typeface="Segoe UI"/>
                <a:cs typeface="Segoe UI"/>
              </a:defRPr>
            </a:pPr>
            <a:r>
              <a:rPr sz="2025" b="0">
                <a:solidFill>
                  <a:srgbClr val="F2F8FA"/>
                </a:solidFill>
                <a:latin typeface="Segoe UI"/>
                <a:ea typeface="Segoe UI"/>
                <a:cs typeface="Segoe UI"/>
              </a:rPr>
              <a:t>Scorer labels and evaluation expectations</a:t>
            </a:r>
          </a:p>
        </p:txBody>
      </p:sp>
      <p:sp>
        <p:nvSpPr>
          <p:cNvPr id="10" name="Read-only source lookup">
            <a:extLst xmlns:a="http://schemas.openxmlformats.org/drawingml/2006/main">
              <a:ext uri="{FF2B5EF4-FFF2-40B4-BE49-F238E27FC236}">
                <a16:creationId xmlns:a16="http://schemas.microsoft.com/office/drawing/2014/main" id="{6BAAF039-5E3E-4CF6-9D18-08406B59D329}"/>
              </a:ext>
            </a:extLst>
          </p:cNvPr>
          <p:cNvSpPr>
            <a:spLocks xmlns:a="http://schemas.openxmlformats.org/drawingml/2006/main" noGrp="1"/>
          </p:cNvSpPr>
          <p:nvPr/>
        </p:nvSpPr>
        <p:spPr>
          <a:xfrm xmlns:a="http://schemas.openxmlformats.org/drawingml/2006/main">
            <a:off x="7905750" y="5715000"/>
            <a:ext cx="6762750" cy="1666875"/>
          </a:xfrm>
          <a:prstGeom xmlns:a="http://schemas.openxmlformats.org/drawingml/2006/main" prst="rect">
            <a:avLst/>
          </a:prstGeom>
          <a:solidFill xmlns:a="http://schemas.openxmlformats.org/drawingml/2006/main">
            <a:srgbClr val="0F303E"/>
          </a:solidFill>
          <a:ln xmlns:a="http://schemas.openxmlformats.org/drawingml/2006/main" w="19050">
            <a:solidFill>
              <a:srgbClr val="72E3CF"/>
            </a:solidFill>
            <a:prstDash val="solid"/>
          </a:ln>
        </p:spPr>
        <p:txBody>
          <a:bodyPr xmlns:a="http://schemas.openxmlformats.org/drawingml/2006/main" wrap="square" lIns="190500" tIns="190500" rIns="171450" bIns="171450" anchor="t">
            <a:noAutofit/>
          </a:bodyPr>
          <a:lstStyle xmlns:a="http://schemas.openxmlformats.org/drawingml/2006/main">
            <a:defPPr>
              <a:defRPr sz="1800">
                <a:solidFill>
                  <a:srgbClr val="F2F8FA"/>
                </a:solidFill>
                <a:latin typeface="Segoe UI"/>
                <a:ea typeface="Segoe UI"/>
                <a:cs typeface="Segoe UI"/>
              </a:defRPr>
            </a:defPPr>
          </a:lstStyle>
          <a:p xmlns:a="http://schemas.openxmlformats.org/drawingml/2006/main">
            <a:pPr>
              <a:spcAft>
                <a:spcPts val="600"/>
              </a:spcAft>
              <a:defRPr sz="1800">
                <a:solidFill>
                  <a:srgbClr val="F2F8FA"/>
                </a:solidFill>
                <a:latin typeface="Segoe UI"/>
                <a:ea typeface="Segoe UI"/>
                <a:cs typeface="Segoe UI"/>
              </a:defRPr>
            </a:pPr>
            <a:r>
              <a:rPr sz="2100" b="1">
                <a:solidFill>
                  <a:srgbClr val="72E3CF"/>
                </a:solidFill>
                <a:latin typeface="Segoe UI"/>
                <a:ea typeface="Segoe UI"/>
                <a:cs typeface="Segoe UI"/>
              </a:rPr>
              <a:t>Read-only source lookup</a:t>
            </a:r>
          </a:p>
          <a:p xmlns:a="http://schemas.openxmlformats.org/drawingml/2006/main">
            <a:pPr>
              <a:defRPr sz="1800">
                <a:solidFill>
                  <a:srgbClr val="F2F8FA"/>
                </a:solidFill>
                <a:latin typeface="Segoe UI"/>
                <a:ea typeface="Segoe UI"/>
                <a:cs typeface="Segoe UI"/>
              </a:defRPr>
            </a:pPr>
            <a:r>
              <a:rPr sz="1950">
                <a:solidFill>
                  <a:srgbClr val="F2F8FA"/>
                </a:solidFill>
                <a:latin typeface="Segoe UI"/>
                <a:ea typeface="Segoe UI"/>
                <a:cs typeface="Segoe UI"/>
              </a:rPr>
              <a:t>prepare_case · get_evidence · get_policy</a:t>
            </a:r>
            <a:br>
              <a:rPr sz="1950">
                <a:solidFill>
                  <a:srgbClr val="F2F8FA"/>
                </a:solidFill>
                <a:latin typeface="Segoe UI"/>
                <a:ea typeface="Segoe UI"/>
                <a:cs typeface="Segoe UI"/>
              </a:rPr>
            </a:br>
            <a:r>
              <a:rPr sz="1950">
                <a:solidFill>
                  <a:srgbClr val="F2F8FA"/>
                </a:solidFill>
                <a:latin typeface="Segoe UI"/>
                <a:ea typeface="Segoe UI"/>
                <a:cs typeface="Segoe UI"/>
              </a:rPr>
              <a:t>Python API and optional local HTTP interface</a:t>
            </a:r>
          </a:p>
        </p:txBody>
      </p:sp>
      <p:sp>
        <p:nvSpPr>
          <p:cNvPr id="12" name="text-14">
            <a:extLst xmlns:a="http://schemas.openxmlformats.org/drawingml/2006/main">
              <a:ext uri="{FF2B5EF4-FFF2-40B4-BE49-F238E27FC236}">
                <a16:creationId xmlns:a16="http://schemas.microsoft.com/office/drawing/2014/main" id="{67C48AE3-D54C-427F-A8E8-50BE239A01CF}"/>
              </a:ext>
            </a:extLst>
          </p:cNvPr>
          <p:cNvSpPr>
            <a:spLocks xmlns:a="http://schemas.openxmlformats.org/drawingml/2006/main" noGrp="1"/>
          </p:cNvSpPr>
          <p:nvPr/>
        </p:nvSpPr>
        <p:spPr>
          <a:xfrm xmlns:a="http://schemas.openxmlformats.org/drawingml/2006/main">
            <a:off x="571500" y="773430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ED1D8"/>
                </a:solidFill>
                <a:latin typeface="Segoe UI"/>
                <a:ea typeface="Segoe UI"/>
                <a:cs typeface="Segoe UI"/>
              </a:defRPr>
            </a:defPPr>
          </a:lstStyle>
          <a:p xmlns:a="http://schemas.openxmlformats.org/drawingml/2006/main">
            <a:pPr>
              <a:defRPr sz="1875" b="0">
                <a:solidFill>
                  <a:srgbClr val="BED1D8"/>
                </a:solidFill>
                <a:latin typeface="Segoe UI"/>
                <a:ea typeface="Segoe UI"/>
                <a:cs typeface="Segoe UI"/>
              </a:defRPr>
            </a:pPr>
            <a:r>
              <a:rPr sz="1875" b="0">
                <a:solidFill>
                  <a:srgbClr val="BED1D8"/>
                </a:solidFill>
                <a:latin typeface="Segoe UI"/>
                <a:ea typeface="Segoe UI"/>
                <a:cs typeface="Segoe UI"/>
              </a:rPr>
              <a:t>Both Advocates, Judge and report use the same snapshot. Hashes bind versions; they do not prove an event occurred.</a:t>
            </a:r>
          </a:p>
        </p:txBody>
      </p:sp>
    </p:spTree>
    <p:extLst>
      <p:ext uri="{BB962C8B-B14F-4D97-AF65-F5344CB8AC3E}">
        <p14:creationId xmlns:p14="http://schemas.microsoft.com/office/powerpoint/2010/main" val="1722161918"/>
      </p:ext>
    </p:extLst>
  </p:cSld>
</p:sld>
</file>

<file path=ppt/slides/slide4.xml><?xml version="1.0" encoding="utf-8"?>
<p:sld xmlns:p="http://schemas.openxmlformats.org/presentationml/2006/main">
  <p:cSld>
    <p:bg>
      <p:bgPr>
        <a:solidFill xmlns:a="http://schemas.openxmlformats.org/drawingml/2006/main">
          <a:srgbClr val="071D29"/>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C99F214A-E436-4B87-817C-FC72CEB2B346}"/>
              </a:ext>
            </a:extLst>
          </p:cNvPr>
          <p:cNvCxnSpPr>
            <a:stCxn xmlns:a="http://schemas.openxmlformats.org/drawingml/2006/main" id="6" idx="3"/>
            <a:endCxn xmlns:a="http://schemas.openxmlformats.org/drawingml/2006/main" id="12" idx="1"/>
          </p:cNvCxnSpPr>
          <p:nvPr/>
        </p:nvCxnSpPr>
        <p:spPr>
          <a:xfrm xmlns:a="http://schemas.openxmlformats.org/drawingml/2006/main">
            <a:off x="8715375" y="3905250"/>
            <a:ext cx="2000250" cy="0"/>
          </a:xfrm>
          <a:prstGeom xmlns:a="http://schemas.openxmlformats.org/drawingml/2006/main" prst="straightConnector1">
            <a:avLst/>
          </a:prstGeom>
          <a:ln xmlns:a="http://schemas.openxmlformats.org/drawingml/2006/main" w="28575">
            <a:solidFill>
              <a:srgbClr val="72E3CF"/>
            </a:solidFill>
            <a:prstDash val="dash"/>
            <a:headEnd type="triangle" w="med" len="med"/>
            <a:tailEnd type="triangle" w="med" len="med"/>
          </a:ln>
        </p:spPr>
      </p:cxnSp>
      <p:cxnSp>
        <p:nvCxnSpPr>
          <p:cNvPr id="11" name="">
            <a:extLst xmlns:a="http://schemas.openxmlformats.org/drawingml/2006/main">
              <a:ext uri="{FF2B5EF4-FFF2-40B4-BE49-F238E27FC236}">
                <a16:creationId xmlns:a16="http://schemas.microsoft.com/office/drawing/2014/main" id="{4F1797EF-30BC-492F-910B-D359E8BC1378}"/>
              </a:ext>
            </a:extLst>
          </p:cNvPr>
          <p:cNvCxnSpPr>
            <a:stCxn xmlns:a="http://schemas.openxmlformats.org/drawingml/2006/main" id="6" idx="2"/>
            <a:endCxn xmlns:a="http://schemas.openxmlformats.org/drawingml/2006/main" id="10" idx="0"/>
          </p:cNvCxnSpPr>
          <p:nvPr/>
        </p:nvCxnSpPr>
        <p:spPr>
          <a:xfrm xmlns:a="http://schemas.openxmlformats.org/drawingml/2006/main">
            <a:off x="6715125" y="4762500"/>
            <a:ext cx="0" cy="571500"/>
          </a:xfrm>
          <a:prstGeom xmlns:a="http://schemas.openxmlformats.org/drawingml/2006/main" prst="straightConnector1">
            <a:avLst/>
          </a:prstGeom>
          <a:ln xmlns:a="http://schemas.openxmlformats.org/drawingml/2006/main" w="28575">
            <a:solidFill>
              <a:srgbClr val="72E3CF"/>
            </a:solidFill>
            <a:prstDash val="solid"/>
            <a:headEnd type="triangle" w="med" len="med"/>
            <a:tailEnd type="triangle" w="med" len="med"/>
          </a:ln>
        </p:spPr>
      </p:cxnSp>
      <p:cxnSp>
        <p:nvCxnSpPr>
          <p:cNvPr id="9" name="">
            <a:extLst xmlns:a="http://schemas.openxmlformats.org/drawingml/2006/main">
              <a:ext uri="{FF2B5EF4-FFF2-40B4-BE49-F238E27FC236}">
                <a16:creationId xmlns:a16="http://schemas.microsoft.com/office/drawing/2014/main" id="{3B07782F-3671-4690-A496-C4AB13EDFEDD}"/>
              </a:ext>
            </a:extLst>
          </p:cNvPr>
          <p:cNvCxnSpPr>
            <a:stCxn xmlns:a="http://schemas.openxmlformats.org/drawingml/2006/main" id="5" idx="2"/>
            <a:endCxn xmlns:a="http://schemas.openxmlformats.org/drawingml/2006/main" id="8" idx="0"/>
          </p:cNvCxnSpPr>
          <p:nvPr/>
        </p:nvCxnSpPr>
        <p:spPr>
          <a:xfrm xmlns:a="http://schemas.openxmlformats.org/drawingml/2006/main">
            <a:off x="2286000" y="4762500"/>
            <a:ext cx="0" cy="476250"/>
          </a:xfrm>
          <a:prstGeom xmlns:a="http://schemas.openxmlformats.org/drawingml/2006/main" prst="straightConnector1">
            <a:avLst/>
          </a:prstGeom>
          <a:ln xmlns:a="http://schemas.openxmlformats.org/drawingml/2006/main" w="28575">
            <a:solidFill>
              <a:srgbClr val="F3C777"/>
            </a:solidFill>
            <a:prstDash val="solid"/>
            <a:tailEnd type="triangle" w="med" len="med"/>
          </a:ln>
        </p:spPr>
      </p:cxnSp>
      <p:cxnSp>
        <p:nvCxnSpPr>
          <p:cNvPr id="7" name="">
            <a:extLst xmlns:a="http://schemas.openxmlformats.org/drawingml/2006/main">
              <a:ext uri="{FF2B5EF4-FFF2-40B4-BE49-F238E27FC236}">
                <a16:creationId xmlns:a16="http://schemas.microsoft.com/office/drawing/2014/main" id="{8EB118AB-B234-4228-B76D-0072A9B122F4}"/>
              </a:ext>
            </a:extLst>
          </p:cNvPr>
          <p:cNvCxnSpPr>
            <a:stCxn xmlns:a="http://schemas.openxmlformats.org/drawingml/2006/main" id="5" idx="3"/>
            <a:endCxn xmlns:a="http://schemas.openxmlformats.org/drawingml/2006/main" id="6" idx="1"/>
          </p:cNvCxnSpPr>
          <p:nvPr/>
        </p:nvCxnSpPr>
        <p:spPr>
          <a:xfrm xmlns:a="http://schemas.openxmlformats.org/drawingml/2006/main">
            <a:off x="3667125" y="3905250"/>
            <a:ext cx="1047750" cy="0"/>
          </a:xfrm>
          <a:prstGeom xmlns:a="http://schemas.openxmlformats.org/drawingml/2006/main" prst="straightConnector1">
            <a:avLst/>
          </a:prstGeom>
          <a:ln xmlns:a="http://schemas.openxmlformats.org/drawingml/2006/main" w="28575">
            <a:solidFill>
              <a:srgbClr val="72E3CF"/>
            </a:solidFill>
            <a:prstDash val="solid"/>
            <a:tailEnd type="triangle" w="med" len="med"/>
          </a:ln>
        </p:spPr>
      </p:cxnSp>
      <p:sp>
        <p:nvSpPr>
          <p:cNvPr id="18" name="text-15">
            <a:extLst xmlns:a="http://schemas.openxmlformats.org/drawingml/2006/main">
              <a:ext uri="{FF2B5EF4-FFF2-40B4-BE49-F238E27FC236}">
                <a16:creationId xmlns:a16="http://schemas.microsoft.com/office/drawing/2014/main" id="{6BDEDA2D-F46A-401F-B573-A173D5EBEF38}"/>
              </a:ext>
            </a:extLst>
          </p:cNvPr>
          <p:cNvSpPr>
            <a:spLocks xmlns:a="http://schemas.openxmlformats.org/drawingml/2006/main" noGrp="1"/>
          </p:cNvSpPr>
          <p:nvPr/>
        </p:nvSpPr>
        <p:spPr>
          <a:xfrm xmlns:a="http://schemas.openxmlformats.org/drawingml/2006/main">
            <a:off x="571500" y="45720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00" b="1">
                <a:solidFill>
                  <a:srgbClr val="F2F8FA"/>
                </a:solidFill>
                <a:latin typeface="Segoe UI"/>
                <a:ea typeface="Segoe UI"/>
                <a:cs typeface="Segoe UI"/>
              </a:defRPr>
            </a:defPPr>
          </a:lstStyle>
          <a:p xmlns:a="http://schemas.openxmlformats.org/drawingml/2006/main">
            <a:pPr>
              <a:defRPr sz="4200" b="1">
                <a:solidFill>
                  <a:srgbClr val="F2F8FA"/>
                </a:solidFill>
                <a:latin typeface="Segoe UI"/>
                <a:ea typeface="Segoe UI"/>
                <a:cs typeface="Segoe UI"/>
              </a:defRPr>
            </a:pPr>
            <a:r>
              <a:rPr sz="4200" b="1">
                <a:solidFill>
                  <a:srgbClr val="F2F8FA"/>
                </a:solidFill>
                <a:latin typeface="Segoe UI"/>
                <a:ea typeface="Segoe UI"/>
                <a:cs typeface="Segoe UI"/>
              </a:rPr>
              <a:t>Runtime, recovery and human review</a:t>
            </a:r>
          </a:p>
        </p:txBody>
      </p:sp>
      <p:sp>
        <p:nvSpPr>
          <p:cNvPr id="2" name="text-16">
            <a:extLst xmlns:a="http://schemas.openxmlformats.org/drawingml/2006/main">
              <a:ext uri="{FF2B5EF4-FFF2-40B4-BE49-F238E27FC236}">
                <a16:creationId xmlns:a16="http://schemas.microsoft.com/office/drawing/2014/main" id="{170160E2-2BDA-4C52-AA16-55D16968EC54}"/>
              </a:ext>
            </a:extLst>
          </p:cNvPr>
          <p:cNvSpPr>
            <a:spLocks xmlns:a="http://schemas.openxmlformats.org/drawingml/2006/main" noGrp="1"/>
          </p:cNvSpPr>
          <p:nvPr/>
        </p:nvSpPr>
        <p:spPr>
          <a:xfrm xmlns:a="http://schemas.openxmlformats.org/drawingml/2006/main">
            <a:off x="600075" y="1323975"/>
            <a:ext cx="1400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BED1D8"/>
                </a:solidFill>
                <a:latin typeface="Segoe UI"/>
                <a:ea typeface="Segoe UI"/>
                <a:cs typeface="Segoe UI"/>
              </a:defRPr>
            </a:defPPr>
          </a:lstStyle>
          <a:p xmlns:a="http://schemas.openxmlformats.org/drawingml/2006/main">
            <a:pPr>
              <a:defRPr sz="2100" b="0">
                <a:solidFill>
                  <a:srgbClr val="BED1D8"/>
                </a:solidFill>
                <a:latin typeface="Segoe UI"/>
                <a:ea typeface="Segoe UI"/>
                <a:cs typeface="Segoe UI"/>
              </a:defRPr>
            </a:pPr>
            <a:r>
              <a:rPr sz="2100" b="0">
                <a:solidFill>
                  <a:srgbClr val="BED1D8"/>
                </a:solidFill>
                <a:latin typeface="Segoe UI"/>
                <a:ea typeface="Segoe UI"/>
                <a:cs typeface="Segoe UI"/>
              </a:rPr>
              <a:t>Local workbench today; authenticated operational integration remains future work</a:t>
            </a:r>
          </a:p>
        </p:txBody>
      </p:sp>
      <p:sp>
        <p:nvSpPr>
          <p:cNvPr id="3" name="Local runtime boundary">
            <a:extLst xmlns:a="http://schemas.openxmlformats.org/drawingml/2006/main">
              <a:ext uri="{FF2B5EF4-FFF2-40B4-BE49-F238E27FC236}">
                <a16:creationId xmlns:a16="http://schemas.microsoft.com/office/drawing/2014/main" id="{D87904D0-6EF8-43C3-B477-4C7E8A9FB6A8}"/>
              </a:ext>
            </a:extLst>
          </p:cNvPr>
          <p:cNvSpPr>
            <a:spLocks xmlns:a="http://schemas.openxmlformats.org/drawingml/2006/main" noGrp="1"/>
          </p:cNvSpPr>
          <p:nvPr/>
        </p:nvSpPr>
        <p:spPr>
          <a:xfrm xmlns:a="http://schemas.openxmlformats.org/drawingml/2006/main">
            <a:off x="571500" y="2114550"/>
            <a:ext cx="8715375" cy="5000625"/>
          </a:xfrm>
          <a:prstGeom xmlns:a="http://schemas.openxmlformats.org/drawingml/2006/main" prst="rect">
            <a:avLst/>
          </a:prstGeom>
          <a:noFill xmlns:a="http://schemas.openxmlformats.org/drawingml/2006/main"/>
          <a:ln xmlns:a="http://schemas.openxmlformats.org/drawingml/2006/main" w="19050">
            <a:solidFill>
              <a:srgbClr val="60838E"/>
            </a:solidFill>
            <a:prstDash val="dash"/>
          </a:ln>
        </p:spPr>
      </p:sp>
      <p:sp>
        <p:nvSpPr>
          <p:cNvPr id="4" name="text-17">
            <a:extLst xmlns:a="http://schemas.openxmlformats.org/drawingml/2006/main">
              <a:ext uri="{FF2B5EF4-FFF2-40B4-BE49-F238E27FC236}">
                <a16:creationId xmlns:a16="http://schemas.microsoft.com/office/drawing/2014/main" id="{DA3E118B-BD67-4381-A7F9-AC700D775933}"/>
              </a:ext>
            </a:extLst>
          </p:cNvPr>
          <p:cNvSpPr>
            <a:spLocks xmlns:a="http://schemas.openxmlformats.org/drawingml/2006/main" noGrp="1"/>
          </p:cNvSpPr>
          <p:nvPr/>
        </p:nvSpPr>
        <p:spPr>
          <a:xfrm xmlns:a="http://schemas.openxmlformats.org/drawingml/2006/main">
            <a:off x="809625" y="2247900"/>
            <a:ext cx="809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BED1D8"/>
                </a:solidFill>
                <a:latin typeface="Segoe UI"/>
                <a:ea typeface="Segoe UI"/>
                <a:cs typeface="Segoe UI"/>
              </a:defRPr>
            </a:defPPr>
          </a:lstStyle>
          <a:p xmlns:a="http://schemas.openxmlformats.org/drawingml/2006/main">
            <a:pPr>
              <a:defRPr sz="2100" b="1">
                <a:solidFill>
                  <a:srgbClr val="BED1D8"/>
                </a:solidFill>
                <a:latin typeface="Segoe UI"/>
                <a:ea typeface="Segoe UI"/>
                <a:cs typeface="Segoe UI"/>
              </a:defRPr>
            </a:pPr>
            <a:r>
              <a:rPr sz="2100" b="1">
                <a:solidFill>
                  <a:srgbClr val="BED1D8"/>
                </a:solidFill>
                <a:latin typeface="Segoe UI"/>
                <a:ea typeface="Segoe UI"/>
                <a:cs typeface="Segoe UI"/>
              </a:rPr>
              <a:t>Local Python process · 127.0.0.1</a:t>
            </a:r>
          </a:p>
        </p:txBody>
      </p:sp>
      <p:sp>
        <p:nvSpPr>
          <p:cNvPr id="5" name="Workbench / CLI">
            <a:extLst xmlns:a="http://schemas.openxmlformats.org/drawingml/2006/main">
              <a:ext uri="{FF2B5EF4-FFF2-40B4-BE49-F238E27FC236}">
                <a16:creationId xmlns:a16="http://schemas.microsoft.com/office/drawing/2014/main" id="{5D23F845-B018-4439-BA9C-B061A48D3362}"/>
              </a:ext>
            </a:extLst>
          </p:cNvPr>
          <p:cNvSpPr>
            <a:spLocks xmlns:a="http://schemas.openxmlformats.org/drawingml/2006/main" noGrp="1"/>
          </p:cNvSpPr>
          <p:nvPr/>
        </p:nvSpPr>
        <p:spPr>
          <a:xfrm xmlns:a="http://schemas.openxmlformats.org/drawingml/2006/main">
            <a:off x="904875" y="3048000"/>
            <a:ext cx="2762250" cy="1714500"/>
          </a:xfrm>
          <a:prstGeom xmlns:a="http://schemas.openxmlformats.org/drawingml/2006/main" prst="rect">
            <a:avLst/>
          </a:prstGeom>
          <a:solidFill xmlns:a="http://schemas.openxmlformats.org/drawingml/2006/main">
            <a:srgbClr val="0F303E"/>
          </a:solidFill>
          <a:ln xmlns:a="http://schemas.openxmlformats.org/drawingml/2006/main" w="19050">
            <a:solidFill>
              <a:srgbClr val="72E3CF"/>
            </a:solidFill>
            <a:prstDash val="solid"/>
          </a:ln>
        </p:spPr>
        <p:txBody>
          <a:bodyPr xmlns:a="http://schemas.openxmlformats.org/drawingml/2006/main" wrap="square" lIns="190500" tIns="190500" rIns="171450" bIns="171450" anchor="t">
            <a:noAutofit/>
          </a:bodyPr>
          <a:lstStyle xmlns:a="http://schemas.openxmlformats.org/drawingml/2006/main">
            <a:defPPr>
              <a:defRPr sz="1800">
                <a:solidFill>
                  <a:srgbClr val="F2F8FA"/>
                </a:solidFill>
                <a:latin typeface="Segoe UI"/>
                <a:ea typeface="Segoe UI"/>
                <a:cs typeface="Segoe UI"/>
              </a:defRPr>
            </a:defPPr>
          </a:lstStyle>
          <a:p xmlns:a="http://schemas.openxmlformats.org/drawingml/2006/main">
            <a:pPr>
              <a:spcAft>
                <a:spcPts val="600"/>
              </a:spcAft>
              <a:defRPr sz="1800">
                <a:solidFill>
                  <a:srgbClr val="F2F8FA"/>
                </a:solidFill>
                <a:latin typeface="Segoe UI"/>
                <a:ea typeface="Segoe UI"/>
                <a:cs typeface="Segoe UI"/>
              </a:defRPr>
            </a:pPr>
            <a:r>
              <a:rPr sz="2175" b="1">
                <a:solidFill>
                  <a:srgbClr val="72E3CF"/>
                </a:solidFill>
                <a:latin typeface="Segoe UI"/>
                <a:ea typeface="Segoe UI"/>
                <a:cs typeface="Segoe UI"/>
              </a:rPr>
              <a:t>Workbench / CLI</a:t>
            </a:r>
          </a:p>
          <a:p xmlns:a="http://schemas.openxmlformats.org/drawingml/2006/main">
            <a:pPr>
              <a:defRPr sz="1800">
                <a:solidFill>
                  <a:srgbClr val="F2F8FA"/>
                </a:solidFill>
                <a:latin typeface="Segoe UI"/>
                <a:ea typeface="Segoe UI"/>
                <a:cs typeface="Segoe UI"/>
              </a:defRPr>
            </a:pPr>
            <a:r>
              <a:rPr sz="1875">
                <a:solidFill>
                  <a:srgbClr val="F2F8FA"/>
                </a:solidFill>
                <a:latin typeface="Segoe UI"/>
                <a:ea typeface="Segoe UI"/>
                <a:cs typeface="Segoe UI"/>
              </a:rPr>
              <a:t>Select and start cases</a:t>
            </a:r>
            <a:br>
              <a:rPr sz="1875">
                <a:solidFill>
                  <a:srgbClr val="F2F8FA"/>
                </a:solidFill>
                <a:latin typeface="Segoe UI"/>
                <a:ea typeface="Segoe UI"/>
                <a:cs typeface="Segoe UI"/>
              </a:rPr>
            </a:br>
            <a:r>
              <a:rPr sz="1875">
                <a:solidFill>
                  <a:srgbClr val="F2F8FA"/>
                </a:solidFill>
                <a:latin typeface="Segoe UI"/>
                <a:ea typeface="Segoe UI"/>
                <a:cs typeface="Segoe UI"/>
              </a:rPr>
              <a:t>Inspect run reports</a:t>
            </a:r>
          </a:p>
        </p:txBody>
      </p:sp>
      <p:sp>
        <p:nvSpPr>
          <p:cNvPr id="6" name="Orchestrator">
            <a:extLst xmlns:a="http://schemas.openxmlformats.org/drawingml/2006/main">
              <a:ext uri="{FF2B5EF4-FFF2-40B4-BE49-F238E27FC236}">
                <a16:creationId xmlns:a16="http://schemas.microsoft.com/office/drawing/2014/main" id="{CE0D51F4-835A-42BD-BA36-EB19979EDC01}"/>
              </a:ext>
            </a:extLst>
          </p:cNvPr>
          <p:cNvSpPr>
            <a:spLocks xmlns:a="http://schemas.openxmlformats.org/drawingml/2006/main" noGrp="1"/>
          </p:cNvSpPr>
          <p:nvPr/>
        </p:nvSpPr>
        <p:spPr>
          <a:xfrm xmlns:a="http://schemas.openxmlformats.org/drawingml/2006/main">
            <a:off x="4714875" y="3048000"/>
            <a:ext cx="4000500" cy="1714500"/>
          </a:xfrm>
          <a:prstGeom xmlns:a="http://schemas.openxmlformats.org/drawingml/2006/main" prst="rect">
            <a:avLst/>
          </a:prstGeom>
          <a:solidFill xmlns:a="http://schemas.openxmlformats.org/drawingml/2006/main">
            <a:srgbClr val="0F303E"/>
          </a:solidFill>
          <a:ln xmlns:a="http://schemas.openxmlformats.org/drawingml/2006/main" w="19050">
            <a:solidFill>
              <a:srgbClr val="72E3CF"/>
            </a:solidFill>
            <a:prstDash val="solid"/>
          </a:ln>
        </p:spPr>
        <p:txBody>
          <a:bodyPr xmlns:a="http://schemas.openxmlformats.org/drawingml/2006/main" wrap="square" lIns="190500" tIns="190500" rIns="171450" bIns="171450" anchor="t">
            <a:noAutofit/>
          </a:bodyPr>
          <a:lstStyle xmlns:a="http://schemas.openxmlformats.org/drawingml/2006/main">
            <a:defPPr>
              <a:defRPr sz="1800">
                <a:solidFill>
                  <a:srgbClr val="F2F8FA"/>
                </a:solidFill>
                <a:latin typeface="Segoe UI"/>
                <a:ea typeface="Segoe UI"/>
                <a:cs typeface="Segoe UI"/>
              </a:defRPr>
            </a:defPPr>
          </a:lstStyle>
          <a:p xmlns:a="http://schemas.openxmlformats.org/drawingml/2006/main">
            <a:pPr>
              <a:spcAft>
                <a:spcPts val="600"/>
              </a:spcAft>
              <a:defRPr sz="1800">
                <a:solidFill>
                  <a:srgbClr val="F2F8FA"/>
                </a:solidFill>
                <a:latin typeface="Segoe UI"/>
                <a:ea typeface="Segoe UI"/>
                <a:cs typeface="Segoe UI"/>
              </a:defRPr>
            </a:pPr>
            <a:r>
              <a:rPr sz="2100" b="1">
                <a:solidFill>
                  <a:srgbClr val="72E3CF"/>
                </a:solidFill>
                <a:latin typeface="Segoe UI"/>
                <a:ea typeface="Segoe UI"/>
                <a:cs typeface="Segoe UI"/>
              </a:rPr>
              <a:t>Orchestrator</a:t>
            </a:r>
          </a:p>
          <a:p xmlns:a="http://schemas.openxmlformats.org/drawingml/2006/main">
            <a:pPr>
              <a:defRPr sz="1800">
                <a:solidFill>
                  <a:srgbClr val="F2F8FA"/>
                </a:solidFill>
                <a:latin typeface="Segoe UI"/>
                <a:ea typeface="Segoe UI"/>
                <a:cs typeface="Segoe UI"/>
              </a:defRPr>
            </a:pPr>
            <a:r>
              <a:rPr sz="1875">
                <a:solidFill>
                  <a:srgbClr val="F2F8FA"/>
                </a:solidFill>
                <a:latin typeface="Segoe UI"/>
                <a:ea typeface="Segoe UI"/>
                <a:cs typeface="Segoe UI"/>
              </a:rPr>
              <a:t>ExecutionSession + budgets</a:t>
            </a:r>
            <a:br>
              <a:rPr sz="1875">
                <a:solidFill>
                  <a:srgbClr val="F2F8FA"/>
                </a:solidFill>
                <a:latin typeface="Segoe UI"/>
                <a:ea typeface="Segoe UI"/>
                <a:cs typeface="Segoe UI"/>
              </a:rPr>
            </a:br>
            <a:r>
              <a:rPr sz="1875">
                <a:solidFill>
                  <a:srgbClr val="F2F8FA"/>
                </a:solidFill>
                <a:latin typeface="Segoe UI"/>
                <a:ea typeface="Segoe UI"/>
                <a:cs typeface="Segoe UI"/>
              </a:rPr>
              <a:t>Offline providers by default</a:t>
            </a:r>
          </a:p>
        </p:txBody>
      </p:sp>
      <p:sp>
        <p:nvSpPr>
          <p:cNvPr id="8" name="Human outcome">
            <a:extLst xmlns:a="http://schemas.openxmlformats.org/drawingml/2006/main">
              <a:ext uri="{FF2B5EF4-FFF2-40B4-BE49-F238E27FC236}">
                <a16:creationId xmlns:a16="http://schemas.microsoft.com/office/drawing/2014/main" id="{DCC0FFB3-54F4-4D39-BC07-F5A417590AC7}"/>
              </a:ext>
            </a:extLst>
          </p:cNvPr>
          <p:cNvSpPr>
            <a:spLocks xmlns:a="http://schemas.openxmlformats.org/drawingml/2006/main" noGrp="1"/>
          </p:cNvSpPr>
          <p:nvPr/>
        </p:nvSpPr>
        <p:spPr>
          <a:xfrm xmlns:a="http://schemas.openxmlformats.org/drawingml/2006/main">
            <a:off x="904875" y="5238750"/>
            <a:ext cx="2762250" cy="1695450"/>
          </a:xfrm>
          <a:prstGeom xmlns:a="http://schemas.openxmlformats.org/drawingml/2006/main" prst="rect">
            <a:avLst/>
          </a:prstGeom>
          <a:solidFill xmlns:a="http://schemas.openxmlformats.org/drawingml/2006/main">
            <a:srgbClr val="0F303E"/>
          </a:solidFill>
          <a:ln xmlns:a="http://schemas.openxmlformats.org/drawingml/2006/main" w="19050">
            <a:solidFill>
              <a:srgbClr val="F3C777"/>
            </a:solidFill>
            <a:prstDash val="solid"/>
          </a:ln>
        </p:spPr>
        <p:txBody>
          <a:bodyPr xmlns:a="http://schemas.openxmlformats.org/drawingml/2006/main" wrap="square" lIns="190500" tIns="190500" rIns="171450" bIns="171450" anchor="t">
            <a:noAutofit/>
          </a:bodyPr>
          <a:lstStyle xmlns:a="http://schemas.openxmlformats.org/drawingml/2006/main">
            <a:defPPr>
              <a:defRPr sz="1800">
                <a:solidFill>
                  <a:srgbClr val="F2F8FA"/>
                </a:solidFill>
                <a:latin typeface="Segoe UI"/>
                <a:ea typeface="Segoe UI"/>
                <a:cs typeface="Segoe UI"/>
              </a:defRPr>
            </a:defPPr>
          </a:lstStyle>
          <a:p xmlns:a="http://schemas.openxmlformats.org/drawingml/2006/main">
            <a:pPr>
              <a:spcAft>
                <a:spcPts val="600"/>
              </a:spcAft>
              <a:defRPr sz="1800">
                <a:solidFill>
                  <a:srgbClr val="F2F8FA"/>
                </a:solidFill>
                <a:latin typeface="Segoe UI"/>
                <a:ea typeface="Segoe UI"/>
                <a:cs typeface="Segoe UI"/>
              </a:defRPr>
            </a:pPr>
            <a:r>
              <a:rPr sz="2175" b="1">
                <a:solidFill>
                  <a:srgbClr val="F3C777"/>
                </a:solidFill>
                <a:latin typeface="Segoe UI"/>
                <a:ea typeface="Segoe UI"/>
                <a:cs typeface="Segoe UI"/>
              </a:rPr>
              <a:t>Human outcome</a:t>
            </a:r>
          </a:p>
          <a:p xmlns:a="http://schemas.openxmlformats.org/drawingml/2006/main">
            <a:pPr>
              <a:defRPr sz="1800">
                <a:solidFill>
                  <a:srgbClr val="F2F8FA"/>
                </a:solidFill>
                <a:latin typeface="Segoe UI"/>
                <a:ea typeface="Segoe UI"/>
                <a:cs typeface="Segoe UI"/>
              </a:defRPr>
            </a:pPr>
            <a:r>
              <a:rPr sz="1800">
                <a:solidFill>
                  <a:srgbClr val="F2F8FA"/>
                </a:solidFill>
                <a:latin typeface="Segoe UI"/>
                <a:ea typeface="Segoe UI"/>
                <a:cs typeface="Segoe UI"/>
              </a:rPr>
              <a:t>Reviewer, reason, refs</a:t>
            </a:r>
            <a:br>
              <a:rPr sz="1800">
                <a:solidFill>
                  <a:srgbClr val="F2F8FA"/>
                </a:solidFill>
                <a:latin typeface="Segoe UI"/>
                <a:ea typeface="Segoe UI"/>
                <a:cs typeface="Segoe UI"/>
              </a:rPr>
            </a:br>
            <a:r>
              <a:rPr sz="1800">
                <a:solidFill>
                  <a:srgbClr val="F2F8FA"/>
                </a:solidFill>
                <a:latin typeface="Segoe UI"/>
                <a:ea typeface="Segoe UI"/>
                <a:cs typeface="Segoe UI"/>
              </a:rPr>
              <a:t>Append-only record</a:t>
            </a:r>
            <a:br>
              <a:rPr sz="1800">
                <a:solidFill>
                  <a:srgbClr val="F2F8FA"/>
                </a:solidFill>
                <a:latin typeface="Segoe UI"/>
                <a:ea typeface="Segoe UI"/>
                <a:cs typeface="Segoe UI"/>
              </a:rPr>
            </a:br>
            <a:r>
              <a:rPr sz="1800">
                <a:solidFill>
                  <a:srgbClr val="F2F8FA"/>
                </a:solidFill>
                <a:latin typeface="Segoe UI"/>
                <a:ea typeface="Segoe UI"/>
                <a:cs typeface="Segoe UI"/>
              </a:rPr>
              <a:t>No payment execution</a:t>
            </a:r>
          </a:p>
        </p:txBody>
      </p:sp>
      <p:sp>
        <p:nvSpPr>
          <p:cNvPr id="10" name="Local JSON storage">
            <a:extLst xmlns:a="http://schemas.openxmlformats.org/drawingml/2006/main">
              <a:ext uri="{FF2B5EF4-FFF2-40B4-BE49-F238E27FC236}">
                <a16:creationId xmlns:a16="http://schemas.microsoft.com/office/drawing/2014/main" id="{6699CEE7-1181-4E88-92D8-4327C7DA8EC0}"/>
              </a:ext>
            </a:extLst>
          </p:cNvPr>
          <p:cNvSpPr>
            <a:spLocks xmlns:a="http://schemas.openxmlformats.org/drawingml/2006/main" noGrp="1"/>
          </p:cNvSpPr>
          <p:nvPr/>
        </p:nvSpPr>
        <p:spPr>
          <a:xfrm xmlns:a="http://schemas.openxmlformats.org/drawingml/2006/main">
            <a:off x="4714875" y="5334000"/>
            <a:ext cx="4000500" cy="1524000"/>
          </a:xfrm>
          <a:prstGeom xmlns:a="http://schemas.openxmlformats.org/drawingml/2006/main" prst="rect">
            <a:avLst/>
          </a:prstGeom>
          <a:solidFill xmlns:a="http://schemas.openxmlformats.org/drawingml/2006/main">
            <a:srgbClr val="0F303E"/>
          </a:solidFill>
          <a:ln xmlns:a="http://schemas.openxmlformats.org/drawingml/2006/main" w="19050">
            <a:solidFill>
              <a:srgbClr val="72E3CF"/>
            </a:solidFill>
            <a:prstDash val="solid"/>
          </a:ln>
        </p:spPr>
        <p:txBody>
          <a:bodyPr xmlns:a="http://schemas.openxmlformats.org/drawingml/2006/main" wrap="square" lIns="190500" tIns="190500" rIns="171450" bIns="171450" anchor="t">
            <a:noAutofit/>
          </a:bodyPr>
          <a:lstStyle xmlns:a="http://schemas.openxmlformats.org/drawingml/2006/main">
            <a:defPPr>
              <a:defRPr sz="1800">
                <a:solidFill>
                  <a:srgbClr val="F2F8FA"/>
                </a:solidFill>
                <a:latin typeface="Segoe UI"/>
                <a:ea typeface="Segoe UI"/>
                <a:cs typeface="Segoe UI"/>
              </a:defRPr>
            </a:defPPr>
          </a:lstStyle>
          <a:p xmlns:a="http://schemas.openxmlformats.org/drawingml/2006/main">
            <a:pPr>
              <a:spcAft>
                <a:spcPts val="600"/>
              </a:spcAft>
              <a:defRPr sz="1800">
                <a:solidFill>
                  <a:srgbClr val="F2F8FA"/>
                </a:solidFill>
                <a:latin typeface="Segoe UI"/>
                <a:ea typeface="Segoe UI"/>
                <a:cs typeface="Segoe UI"/>
              </a:defRPr>
            </a:pPr>
            <a:r>
              <a:rPr sz="2100" b="1">
                <a:solidFill>
                  <a:srgbClr val="72E3CF"/>
                </a:solidFill>
                <a:latin typeface="Segoe UI"/>
                <a:ea typeface="Segoe UI"/>
                <a:cs typeface="Segoe UI"/>
              </a:rPr>
              <a:t>Local JSON storage</a:t>
            </a:r>
          </a:p>
          <a:p xmlns:a="http://schemas.openxmlformats.org/drawingml/2006/main">
            <a:pPr>
              <a:defRPr sz="1800">
                <a:solidFill>
                  <a:srgbClr val="F2F8FA"/>
                </a:solidFill>
                <a:latin typeface="Segoe UI"/>
                <a:ea typeface="Segoe UI"/>
                <a:cs typeface="Segoe UI"/>
              </a:defRPr>
            </a:pPr>
            <a:r>
              <a:rPr sz="1875">
                <a:solidFill>
                  <a:srgbClr val="F2F8FA"/>
                </a:solidFill>
                <a:latin typeface="Segoe UI"/>
                <a:ea typeface="Segoe UI"/>
                <a:cs typeface="Segoe UI"/>
              </a:rPr>
              <a:t>Runs, snapshots and reports</a:t>
            </a:r>
            <a:br>
              <a:rPr sz="1875">
                <a:solidFill>
                  <a:srgbClr val="F2F8FA"/>
                </a:solidFill>
                <a:latin typeface="Segoe UI"/>
                <a:ea typeface="Segoe UI"/>
                <a:cs typeface="Segoe UI"/>
              </a:rPr>
            </a:br>
            <a:r>
              <a:rPr sz="1875">
                <a:solidFill>
                  <a:srgbClr val="F2F8FA"/>
                </a:solidFill>
                <a:latin typeface="Segoe UI"/>
                <a:ea typeface="Segoe UI"/>
                <a:cs typeface="Segoe UI"/>
              </a:rPr>
              <a:t>Private checkpoints + lineage</a:t>
            </a:r>
          </a:p>
        </p:txBody>
      </p:sp>
      <p:sp>
        <p:nvSpPr>
          <p:cNvPr id="12" name="Vertex / Gemini">
            <a:extLst xmlns:a="http://schemas.openxmlformats.org/drawingml/2006/main">
              <a:ext uri="{FF2B5EF4-FFF2-40B4-BE49-F238E27FC236}">
                <a16:creationId xmlns:a16="http://schemas.microsoft.com/office/drawing/2014/main" id="{9FD69D8F-0296-43A1-B004-46A3DBDBC33A}"/>
              </a:ext>
            </a:extLst>
          </p:cNvPr>
          <p:cNvSpPr>
            <a:spLocks xmlns:a="http://schemas.openxmlformats.org/drawingml/2006/main" noGrp="1"/>
          </p:cNvSpPr>
          <p:nvPr/>
        </p:nvSpPr>
        <p:spPr>
          <a:xfrm xmlns:a="http://schemas.openxmlformats.org/drawingml/2006/main">
            <a:off x="10715625" y="3048000"/>
            <a:ext cx="3952875" cy="1714500"/>
          </a:xfrm>
          <a:prstGeom xmlns:a="http://schemas.openxmlformats.org/drawingml/2006/main" prst="rect">
            <a:avLst/>
          </a:prstGeom>
          <a:solidFill xmlns:a="http://schemas.openxmlformats.org/drawingml/2006/main">
            <a:srgbClr val="0F303E"/>
          </a:solidFill>
          <a:ln xmlns:a="http://schemas.openxmlformats.org/drawingml/2006/main" w="19050">
            <a:solidFill>
              <a:srgbClr val="72E3CF"/>
            </a:solidFill>
            <a:prstDash val="dash"/>
          </a:ln>
        </p:spPr>
        <p:txBody>
          <a:bodyPr xmlns:a="http://schemas.openxmlformats.org/drawingml/2006/main" wrap="square" lIns="190500" tIns="190500" rIns="171450" bIns="171450" anchor="t">
            <a:noAutofit/>
          </a:bodyPr>
          <a:lstStyle xmlns:a="http://schemas.openxmlformats.org/drawingml/2006/main">
            <a:defPPr>
              <a:defRPr sz="1800">
                <a:solidFill>
                  <a:srgbClr val="F2F8FA"/>
                </a:solidFill>
                <a:latin typeface="Segoe UI"/>
                <a:ea typeface="Segoe UI"/>
                <a:cs typeface="Segoe UI"/>
              </a:defRPr>
            </a:defPPr>
          </a:lstStyle>
          <a:p xmlns:a="http://schemas.openxmlformats.org/drawingml/2006/main">
            <a:pPr>
              <a:spcAft>
                <a:spcPts val="600"/>
              </a:spcAft>
              <a:defRPr sz="1800">
                <a:solidFill>
                  <a:srgbClr val="F2F8FA"/>
                </a:solidFill>
                <a:latin typeface="Segoe UI"/>
                <a:ea typeface="Segoe UI"/>
                <a:cs typeface="Segoe UI"/>
              </a:defRPr>
            </a:pPr>
            <a:r>
              <a:rPr sz="2100" b="1">
                <a:solidFill>
                  <a:srgbClr val="72E3CF"/>
                </a:solidFill>
                <a:latin typeface="Segoe UI"/>
                <a:ea typeface="Segoe UI"/>
                <a:cs typeface="Segoe UI"/>
              </a:rPr>
              <a:t>Vertex / Gemini</a:t>
            </a:r>
          </a:p>
          <a:p xmlns:a="http://schemas.openxmlformats.org/drawingml/2006/main">
            <a:pPr>
              <a:defRPr sz="1800">
                <a:solidFill>
                  <a:srgbClr val="F2F8FA"/>
                </a:solidFill>
                <a:latin typeface="Segoe UI"/>
                <a:ea typeface="Segoe UI"/>
                <a:cs typeface="Segoe UI"/>
              </a:defRPr>
            </a:pPr>
            <a:r>
              <a:rPr sz="1875">
                <a:solidFill>
                  <a:srgbClr val="F2F8FA"/>
                </a:solidFill>
                <a:latin typeface="Segoe UI"/>
                <a:ea typeface="Segoe UI"/>
                <a:cs typeface="Segoe UI"/>
              </a:rPr>
              <a:t>Optional authenticated calls</a:t>
            </a:r>
            <a:br>
              <a:rPr sz="1875">
                <a:solidFill>
                  <a:srgbClr val="F2F8FA"/>
                </a:solidFill>
                <a:latin typeface="Segoe UI"/>
                <a:ea typeface="Segoe UI"/>
                <a:cs typeface="Segoe UI"/>
              </a:rPr>
            </a:br>
            <a:r>
              <a:rPr sz="1875">
                <a:solidFill>
                  <a:srgbClr val="F2F8FA"/>
                </a:solidFill>
                <a:latin typeface="Segoe UI"/>
                <a:ea typeface="Segoe UI"/>
                <a:cs typeface="Segoe UI"/>
              </a:rPr>
              <a:t>Enabled explicitly</a:t>
            </a:r>
            <a:br>
              <a:rPr sz="1875">
                <a:solidFill>
                  <a:srgbClr val="F2F8FA"/>
                </a:solidFill>
                <a:latin typeface="Segoe UI"/>
                <a:ea typeface="Segoe UI"/>
                <a:cs typeface="Segoe UI"/>
              </a:rPr>
            </a:br>
            <a:r>
              <a:rPr sz="1875">
                <a:solidFill>
                  <a:srgbClr val="F2F8FA"/>
                </a:solidFill>
                <a:latin typeface="Segoe UI"/>
                <a:ea typeface="Segoe UI"/>
                <a:cs typeface="Segoe UI"/>
              </a:rPr>
              <a:t>Consumes cloud model quota</a:t>
            </a:r>
          </a:p>
        </p:txBody>
      </p:sp>
      <p:sp>
        <p:nvSpPr>
          <p:cNvPr id="14" name="text-18">
            <a:extLst xmlns:a="http://schemas.openxmlformats.org/drawingml/2006/main">
              <a:ext uri="{FF2B5EF4-FFF2-40B4-BE49-F238E27FC236}">
                <a16:creationId xmlns:a16="http://schemas.microsoft.com/office/drawing/2014/main" id="{3EEA2577-57B4-4CD0-BCF3-205EFE3E962A}"/>
              </a:ext>
            </a:extLst>
          </p:cNvPr>
          <p:cNvSpPr>
            <a:spLocks xmlns:a="http://schemas.openxmlformats.org/drawingml/2006/main" noGrp="1"/>
          </p:cNvSpPr>
          <p:nvPr/>
        </p:nvSpPr>
        <p:spPr>
          <a:xfrm xmlns:a="http://schemas.openxmlformats.org/drawingml/2006/main">
            <a:off x="10715625" y="5476875"/>
            <a:ext cx="4000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F3C777"/>
                </a:solidFill>
                <a:latin typeface="Segoe UI"/>
                <a:ea typeface="Segoe UI"/>
                <a:cs typeface="Segoe UI"/>
              </a:defRPr>
            </a:defPPr>
          </a:lstStyle>
          <a:p xmlns:a="http://schemas.openxmlformats.org/drawingml/2006/main">
            <a:pPr>
              <a:defRPr sz="2250" b="1">
                <a:solidFill>
                  <a:srgbClr val="F3C777"/>
                </a:solidFill>
                <a:latin typeface="Segoe UI"/>
                <a:ea typeface="Segoe UI"/>
                <a:cs typeface="Segoe UI"/>
              </a:defRPr>
            </a:pPr>
            <a:r>
              <a:rPr sz="2250" b="1">
                <a:solidFill>
                  <a:srgbClr val="F3C777"/>
                </a:solidFill>
                <a:latin typeface="Segoe UI"/>
                <a:ea typeface="Segoe UI"/>
                <a:cs typeface="Segoe UI"/>
              </a:rPr>
              <a:t>Future production integrations</a:t>
            </a:r>
          </a:p>
        </p:txBody>
      </p:sp>
      <p:sp>
        <p:nvSpPr>
          <p:cNvPr id="15" name="text-19">
            <a:extLst xmlns:a="http://schemas.openxmlformats.org/drawingml/2006/main">
              <a:ext uri="{FF2B5EF4-FFF2-40B4-BE49-F238E27FC236}">
                <a16:creationId xmlns:a16="http://schemas.microsoft.com/office/drawing/2014/main" id="{9A324AFB-0559-4525-8039-AB171ECCE0BB}"/>
              </a:ext>
            </a:extLst>
          </p:cNvPr>
          <p:cNvSpPr>
            <a:spLocks xmlns:a="http://schemas.openxmlformats.org/drawingml/2006/main" noGrp="1"/>
          </p:cNvSpPr>
          <p:nvPr/>
        </p:nvSpPr>
        <p:spPr>
          <a:xfrm xmlns:a="http://schemas.openxmlformats.org/drawingml/2006/main">
            <a:off x="10715625" y="6276975"/>
            <a:ext cx="4095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BED1D8"/>
                </a:solidFill>
                <a:latin typeface="Segoe UI"/>
                <a:ea typeface="Segoe UI"/>
                <a:cs typeface="Segoe UI"/>
              </a:defRPr>
            </a:defPPr>
          </a:lstStyle>
          <a:p xmlns:a="http://schemas.openxmlformats.org/drawingml/2006/main">
            <a:pPr>
              <a:defRPr sz="1950" b="0">
                <a:solidFill>
                  <a:srgbClr val="BED1D8"/>
                </a:solidFill>
                <a:latin typeface="Segoe UI"/>
                <a:ea typeface="Segoe UI"/>
                <a:cs typeface="Segoe UI"/>
              </a:defRPr>
            </a:pPr>
            <a:r>
              <a:rPr sz="1950" b="0">
                <a:solidFill>
                  <a:srgbClr val="BED1D8"/>
                </a:solidFill>
                <a:latin typeface="Segoe UI"/>
                <a:ea typeface="Segoe UI"/>
                <a:cs typeface="Segoe UI"/>
              </a:rPr>
              <a:t>Reviewer identity and roles</a:t>
            </a:r>
          </a:p>
          <a:p xmlns:a="http://schemas.openxmlformats.org/drawingml/2006/main">
            <a:pPr>
              <a:defRPr sz="1950" b="0">
                <a:solidFill>
                  <a:srgbClr val="BED1D8"/>
                </a:solidFill>
                <a:latin typeface="Segoe UI"/>
                <a:ea typeface="Segoe UI"/>
                <a:cs typeface="Segoe UI"/>
              </a:defRPr>
            </a:pPr>
            <a:r>
              <a:rPr sz="1950" b="0">
                <a:solidFill>
                  <a:srgbClr val="BED1D8"/>
                </a:solidFill>
                <a:latin typeface="Segoe UI"/>
                <a:ea typeface="Segoe UI"/>
                <a:cs typeface="Segoe UI"/>
              </a:rPr>
              <a:t>Independent evidence checks</a:t>
            </a:r>
          </a:p>
          <a:p xmlns:a="http://schemas.openxmlformats.org/drawingml/2006/main">
            <a:pPr>
              <a:defRPr sz="1950" b="0">
                <a:solidFill>
                  <a:srgbClr val="BED1D8"/>
                </a:solidFill>
                <a:latin typeface="Segoe UI"/>
                <a:ea typeface="Segoe UI"/>
                <a:cs typeface="Segoe UI"/>
              </a:defRPr>
            </a:pPr>
            <a:r>
              <a:rPr sz="1950" b="0">
                <a:solidFill>
                  <a:srgbClr val="BED1D8"/>
                </a:solidFill>
                <a:latin typeface="Segoe UI"/>
                <a:ea typeface="Segoe UI"/>
                <a:cs typeface="Segoe UI"/>
              </a:rPr>
              <a:t>Authorized payment service</a:t>
            </a:r>
          </a:p>
        </p:txBody>
      </p:sp>
      <p:sp>
        <p:nvSpPr>
          <p:cNvPr id="16" name="text-20">
            <a:extLst xmlns:a="http://schemas.openxmlformats.org/drawingml/2006/main">
              <a:ext uri="{FF2B5EF4-FFF2-40B4-BE49-F238E27FC236}">
                <a16:creationId xmlns:a16="http://schemas.microsoft.com/office/drawing/2014/main" id="{4445EAF1-9A4A-4401-8FC3-3A296736055B}"/>
              </a:ext>
            </a:extLst>
          </p:cNvPr>
          <p:cNvSpPr>
            <a:spLocks xmlns:a="http://schemas.openxmlformats.org/drawingml/2006/main" noGrp="1"/>
          </p:cNvSpPr>
          <p:nvPr/>
        </p:nvSpPr>
        <p:spPr>
          <a:xfrm xmlns:a="http://schemas.openxmlformats.org/drawingml/2006/main">
            <a:off x="571500" y="7496175"/>
            <a:ext cx="14097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F2F8FA"/>
                </a:solidFill>
                <a:latin typeface="Segoe UI"/>
                <a:ea typeface="Segoe UI"/>
                <a:cs typeface="Segoe UI"/>
              </a:defRPr>
            </a:defPPr>
          </a:lstStyle>
          <a:p xmlns:a="http://schemas.openxmlformats.org/drawingml/2006/main">
            <a:pPr>
              <a:defRPr sz="1875" b="0">
                <a:solidFill>
                  <a:srgbClr val="F2F8FA"/>
                </a:solidFill>
                <a:latin typeface="Segoe UI"/>
                <a:ea typeface="Segoe UI"/>
                <a:cs typeface="Segoe UI"/>
              </a:defRPr>
            </a:pPr>
            <a:r>
              <a:rPr sz="1875" b="0">
                <a:solidFill>
                  <a:srgbClr val="F2F8FA"/>
                </a:solidFill>
                <a:latin typeface="Segoe UI"/>
                <a:ea typeface="Segoe UI"/>
                <a:cs typeface="Segoe UI"/>
              </a:rPr>
              <a:t>One supplement round: preview → confirm → new snapshot; retain the old result and pinned policy.</a:t>
            </a:r>
          </a:p>
        </p:txBody>
      </p:sp>
      <p:sp>
        <p:nvSpPr>
          <p:cNvPr id="17" name="text-21">
            <a:extLst xmlns:a="http://schemas.openxmlformats.org/drawingml/2006/main">
              <a:ext uri="{FF2B5EF4-FFF2-40B4-BE49-F238E27FC236}">
                <a16:creationId xmlns:a16="http://schemas.microsoft.com/office/drawing/2014/main" id="{3D3988BD-D33F-4508-B3CD-1CCBBC141D02}"/>
              </a:ext>
            </a:extLst>
          </p:cNvPr>
          <p:cNvSpPr>
            <a:spLocks xmlns:a="http://schemas.openxmlformats.org/drawingml/2006/main" noGrp="1"/>
          </p:cNvSpPr>
          <p:nvPr/>
        </p:nvSpPr>
        <p:spPr>
          <a:xfrm xmlns:a="http://schemas.openxmlformats.org/drawingml/2006/main">
            <a:off x="571500" y="7991475"/>
            <a:ext cx="14097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ED1D8"/>
                </a:solidFill>
                <a:latin typeface="Segoe UI"/>
                <a:ea typeface="Segoe UI"/>
                <a:cs typeface="Segoe UI"/>
              </a:defRPr>
            </a:defPPr>
          </a:lstStyle>
          <a:p xmlns:a="http://schemas.openxmlformats.org/drawingml/2006/main">
            <a:pPr>
              <a:defRPr sz="1875" b="0">
                <a:solidFill>
                  <a:srgbClr val="BED1D8"/>
                </a:solidFill>
                <a:latin typeface="Segoe UI"/>
                <a:ea typeface="Segoe UI"/>
                <a:cs typeface="Segoe UI"/>
              </a:defRPr>
            </a:pPr>
            <a:r>
              <a:rPr sz="1875" b="0">
                <a:solidFill>
                  <a:srgbClr val="BED1D8"/>
                </a:solidFill>
                <a:latin typeface="Segoe UI"/>
                <a:ea typeface="Segoe UI"/>
                <a:cs typeface="Segoe UI"/>
              </a:rPr>
              <a:t>CLI resume requires matching versions and budgets. Execution failure is separate from a policy referral.</a:t>
            </a:r>
          </a:p>
        </p:txBody>
      </p:sp>
    </p:spTree>
    <p:extLst>
      <p:ext uri="{BB962C8B-B14F-4D97-AF65-F5344CB8AC3E}">
        <p14:creationId xmlns:p14="http://schemas.microsoft.com/office/powerpoint/2010/main" val="9785298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2026-10-16T12:38:32.2750000Z</dcterms:created>
  <dcterms:modified xsi:type="dcterms:W3CDTF">2026-10-16T12:38:32.2750000Z</dcterms:modified>
</coreProperties>
</file>